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8745335bcf04c43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43423925b6484346"/>
    <p:sldId id="257" r:id="R4cb4207e3f864337"/>
    <p:sldId id="258" r:id="Rb89659bab3884271"/>
    <p:sldId id="259" r:id="R627c992ed0404d95"/>
    <p:sldId id="260" r:id="R75754a1e33bb4e02"/>
    <p:sldId id="261" r:id="R1cbffeaa31b14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e0415666d26d4c74" /><Relationship Type="http://schemas.openxmlformats.org/officeDocument/2006/relationships/slide" Target="/ppt/slides/slide1.xml" Id="R43423925b6484346" /><Relationship Type="http://schemas.openxmlformats.org/officeDocument/2006/relationships/slide" Target="/ppt/slides/slide2.xml" Id="R4cb4207e3f864337" /><Relationship Type="http://schemas.openxmlformats.org/officeDocument/2006/relationships/slide" Target="/ppt/slides/slide3.xml" Id="Rb89659bab3884271" /><Relationship Type="http://schemas.openxmlformats.org/officeDocument/2006/relationships/slide" Target="/ppt/slides/slide4.xml" Id="R627c992ed0404d95" /><Relationship Type="http://schemas.openxmlformats.org/officeDocument/2006/relationships/slide" Target="/ppt/slides/slide5.xml" Id="R75754a1e33bb4e02" /><Relationship Type="http://schemas.openxmlformats.org/officeDocument/2006/relationships/slide" Target="/ppt/slides/slide6.xml" Id="R1cbffeaa31b14d5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43ea5d04546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1522d4699e40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e27e528f34acc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64e9299d5564c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08e20eab6dc42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020201a7114f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a06d2b3d4f743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680b397487546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bbe150d09614af8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2160000"/>
            <a:ext cx="576000" cy="432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792000" y="2340000"/>
            <a:ext cx="936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A6E5A"/>
                </a:solidFill>
              </a:rPr>
              <a:t>Internal proposal · Product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2000" y="2808000"/>
            <a:ext cx="10080000" cy="14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1D1D1F"/>
                </a:solidFill>
              </a:rPr>
              <a:t>A closed loop for customer feedback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92000" y="4752000"/>
            <a:ext cx="1008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A6E5A"/>
                </a:solidFill>
              </a:rPr>
              <a:t>Alex Chen · September 25,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Where we are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7A6E5A"/>
                </a:solidFill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4000" y="1944000"/>
            <a:ext cx="3600000" cy="108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400" b="1">
                <a:solidFill>
                  <a:srgbClr val="8A6A2F"/>
                </a:solidFill>
              </a:rPr>
              <a:t>6 weeks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4000" y="3240000"/>
            <a:ext cx="3600000" cy="7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7A6E5A"/>
                </a:solidFill>
              </a:rPr>
              <a:t>The average wait from a frequent request to any response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24000" y="1944000"/>
            <a:ext cx="6480000" cy="32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Feedback is scattered across support tickets, sales chats and email, with no single entry point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No review cadence; whoever shouts loudest goes first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Customers cannot tell whether anyone is on it, so they ask again and again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The proposal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4000" y="102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7A6E5A"/>
                </a:solidFill>
              </a:rPr>
              <a:t>Three parts, one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7A6E5A"/>
                </a:solidFill>
              </a:rPr>
              <a:t>03</a:t>
            </a:r>
          </a:p>
        </p:txBody>
      </p:sp>
      <p:sp>
        <p:nvSpPr>
          <p:cNvPr id="6" name="Shape 6"/>
          <p:cNvSpPr/>
          <p:nvPr/>
        </p:nvSpPr>
        <p:spPr>
          <a:xfrm>
            <a:off x="864000" y="1872000"/>
            <a:ext cx="3319920" cy="2736000"/>
          </a:xfrm>
          <a:prstGeom prst="roundRect">
            <a:avLst/>
          </a:prstGeom>
          <a:solidFill>
            <a:srgbClr val="F7F2E8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11520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8A6A2F"/>
                </a:solidFill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0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One inbox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20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A6E5A"/>
                </a:solidFill>
              </a:rPr>
              <a:t>Feedback from every channel lands on one board, deduplicated and tagged</a:t>
            </a:r>
          </a:p>
        </p:txBody>
      </p:sp>
      <p:sp>
        <p:nvSpPr>
          <p:cNvPr id="10" name="Shape 10"/>
          <p:cNvSpPr/>
          <p:nvPr/>
        </p:nvSpPr>
        <p:spPr>
          <a:xfrm>
            <a:off x="4435920" y="1872000"/>
            <a:ext cx="3319920" cy="2736000"/>
          </a:xfrm>
          <a:prstGeom prst="roundRect">
            <a:avLst/>
          </a:prstGeom>
          <a:solidFill>
            <a:srgbClr val="F7F2E8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472392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8A6A2F"/>
                </a:solidFill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2392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Weekly review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2392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A6E5A"/>
                </a:solidFill>
              </a:rPr>
              <a:t>Product, support and sales meet for 45 minutes and give every frequent request a status</a:t>
            </a:r>
          </a:p>
        </p:txBody>
      </p:sp>
      <p:sp>
        <p:nvSpPr>
          <p:cNvPr id="14" name="Shape 14"/>
          <p:cNvSpPr/>
          <p:nvPr/>
        </p:nvSpPr>
        <p:spPr>
          <a:xfrm>
            <a:off x="8008200" y="1872000"/>
            <a:ext cx="3319920" cy="2736000"/>
          </a:xfrm>
          <a:prstGeom prst="roundRect">
            <a:avLst/>
          </a:prstGeom>
          <a:solidFill>
            <a:srgbClr val="F7F2E8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82962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8A6A2F"/>
                </a:solidFill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62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Public roadmap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962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7A6E5A"/>
                </a:solidFill>
              </a:rPr>
              <a:t>Customers see planned / in progress / shipped, and get told when it ships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How we get there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7A6E5A"/>
                </a:solidFill>
              </a:rPr>
              <a:t>04</a:t>
            </a:r>
          </a:p>
        </p:txBody>
      </p:sp>
      <p:sp>
        <p:nvSpPr>
          <p:cNvPr id="5" name="Shape 5"/>
          <p:cNvSpPr/>
          <p:nvPr/>
        </p:nvSpPr>
        <p:spPr>
          <a:xfrm>
            <a:off x="2171880" y="2934000"/>
            <a:ext cx="7848000" cy="21600"/>
          </a:xfrm>
          <a:prstGeom prst="rect">
            <a:avLst/>
          </a:prstGeom>
          <a:solidFill>
            <a:srgbClr val="E3D7C0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Shape 6"/>
          <p:cNvSpPr/>
          <p:nvPr/>
        </p:nvSpPr>
        <p:spPr>
          <a:xfrm>
            <a:off x="1937880" y="2718000"/>
            <a:ext cx="468000" cy="468000"/>
          </a:xfrm>
          <a:prstGeom prst="ellipse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200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Early October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200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7A6E5A"/>
                </a:solidFill>
              </a:rPr>
              <a:t>Connect the three channels and set up the board</a:t>
            </a:r>
          </a:p>
        </p:txBody>
      </p:sp>
      <p:sp>
        <p:nvSpPr>
          <p:cNvPr id="9" name="Shape 9"/>
          <p:cNvSpPr/>
          <p:nvPr/>
        </p:nvSpPr>
        <p:spPr>
          <a:xfrm>
            <a:off x="4554000" y="2718000"/>
            <a:ext cx="468000" cy="468000"/>
          </a:xfrm>
          <a:prstGeom prst="ellipse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8812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Mid-October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8812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7A6E5A"/>
                </a:solidFill>
              </a:rPr>
              <a:t>First weekly review; agree the status rules</a:t>
            </a:r>
          </a:p>
        </p:txBody>
      </p:sp>
      <p:sp>
        <p:nvSpPr>
          <p:cNvPr id="12" name="Shape 12"/>
          <p:cNvSpPr/>
          <p:nvPr/>
        </p:nvSpPr>
        <p:spPr>
          <a:xfrm>
            <a:off x="7170120" y="2718000"/>
            <a:ext cx="468000" cy="468000"/>
          </a:xfrm>
          <a:prstGeom prst="ellipse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0424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November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0424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7A6E5A"/>
                </a:solidFill>
              </a:rPr>
              <a:t>Public roadmap live; notifications wired up</a:t>
            </a:r>
          </a:p>
        </p:txBody>
      </p:sp>
      <p:sp>
        <p:nvSpPr>
          <p:cNvPr id="15" name="Shape 15"/>
          <p:cNvSpPr/>
          <p:nvPr/>
        </p:nvSpPr>
        <p:spPr>
          <a:xfrm>
            <a:off x="9786240" y="2718000"/>
            <a:ext cx="468000" cy="468000"/>
          </a:xfrm>
          <a:prstGeom prst="ellipse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20000" y="3384000"/>
            <a:ext cx="240012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D1D1F"/>
                </a:solidFill>
              </a:rPr>
              <a:t>December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20000" y="3852000"/>
            <a:ext cx="2400120" cy="12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7A6E5A"/>
                </a:solidFill>
              </a:rPr>
              <a:t>Review: response time and customer satisfaction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Cost and return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7A6E5A"/>
                </a:solidFill>
              </a:rPr>
              <a:t>05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908000"/>
            <a:ext cx="5040000" cy="216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7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8A6A2F"/>
                </a:solidFill>
              </a:rPr>
              <a:t>Cost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Tools: board and notifications, about 20,000 a year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People: half a product manager, a third of a support agent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A 45-minute meeting every week</a:t>
            </a:r>
          </a:p>
        </p:txBody>
      </p:sp>
      <p:sp>
        <p:nvSpPr>
          <p:cNvPr id="8" name="Shape 8"/>
          <p:cNvSpPr/>
          <p:nvPr/>
        </p:nvSpPr>
        <p:spPr>
          <a:xfrm>
            <a:off x="6264000" y="1908000"/>
            <a:ext cx="5040000" cy="216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1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8A6A2F"/>
                </a:solidFill>
              </a:rPr>
              <a:t>Return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Response time from six weeks to two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Duplicate feedback down 40%; fewer tickets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Renewal conversations backed by evidence; target renewals up 5 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8A6A2F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Decisions needed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7A6E5A"/>
                </a:solidFill>
              </a:rPr>
              <a:t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4000" y="1908000"/>
            <a:ext cx="10464120" cy="360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800">
                <a:solidFill>
                  <a:srgbClr val="1D1D1F"/>
                </a:solidFill>
              </a:rPr>
              <a:t>Approve a review group of one person each from product, support and sales, meeting weekly.</a:t>
            </a:r>
          </a:p>
          <a:p>
            <a:pPr marL="342900" indent="-342900">
              <a:buAutoNum type="arabicPeriod"/>
            </a:pPr>
            <a:r>
              <a:rPr lang="en-US" sz="1800">
                <a:solidFill>
                  <a:srgbClr val="1D1D1F"/>
                </a:solidFill>
              </a:rPr>
              <a:t>Approve the 20,000-a-year tool budget.</a:t>
            </a:r>
          </a:p>
          <a:p>
            <a:pPr marL="342900" indent="-342900">
              <a:buAutoNum type="arabicPeriod"/>
            </a:pPr>
            <a:r>
              <a:rPr lang="en-US" sz="1800">
                <a:solidFill>
                  <a:srgbClr val="1D1D1F"/>
                </a:solidFill>
              </a:rPr>
              <a:t>Authorise Product to publish the “planned” status externally.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4000" y="4896000"/>
            <a:ext cx="10464120" cy="54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7A6E5A"/>
                </a:solidFill>
              </a:rPr>
              <a:t>If approved, we start on October 8 and report on the first phase at the end of December.</a:t>
            </a:r>
          </a:p>
        </p:txBody>
      </p:sp>
    </p:spTree>
  </p:cSld>
  <p:clrMapOvr>
    <a:masterClrMapping/>
  </p:clrMapOvr>
</p:sld>
</file>