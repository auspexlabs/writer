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9ac62423b0c4fa2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Master"/>
  </p:sldMasterIdLst>
  <p:sldIdLst>
    <p:sldId id="256" r:id="R5383a525936b43cb"/>
    <p:sldId id="257" r:id="R9d660bbd4e3a43ea"/>
    <p:sldId id="258" r:id="Reae0b434a4304d64"/>
    <p:sldId id="259" r:id="R8845f44dee4041fb"/>
    <p:sldId id="260" r:id="R41f0903002f54d9d"/>
    <p:sldId id="261" r:id="R6a2c9024c49c40cb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" /><Relationship Type="http://schemas.openxmlformats.org/officeDocument/2006/relationships/theme" Target="/ppt/slideMasters/theme/theme1.xml" Id="Rbb8674a5dfd243d3" /><Relationship Type="http://schemas.openxmlformats.org/officeDocument/2006/relationships/slide" Target="/ppt/slides/slide1.xml" Id="R5383a525936b43cb" /><Relationship Type="http://schemas.openxmlformats.org/officeDocument/2006/relationships/slide" Target="/ppt/slides/slide2.xml" Id="R9d660bbd4e3a43ea" /><Relationship Type="http://schemas.openxmlformats.org/officeDocument/2006/relationships/slide" Target="/ppt/slides/slide3.xml" Id="Reae0b434a4304d64" /><Relationship Type="http://schemas.openxmlformats.org/officeDocument/2006/relationships/slide" Target="/ppt/slides/slide4.xml" Id="R8845f44dee4041fb" /><Relationship Type="http://schemas.openxmlformats.org/officeDocument/2006/relationships/slide" Target="/ppt/slides/slide5.xml" Id="R41f0903002f54d9d" /><Relationship Type="http://schemas.openxmlformats.org/officeDocument/2006/relationships/slide" Target="/ppt/slides/slide6.xml" Id="R6a2c9024c49c40cb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490356029f4b1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400acd33f4482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19a1eb696c4d52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" /><Relationship Type="http://schemas.openxmlformats.org/officeDocument/2006/relationships/slideLayout" Target="/ppt/slideLayouts/slideLayout1.xml" Id="rIdLayout1" /><Relationship Type="http://schemas.openxmlformats.org/officeDocument/2006/relationships/slideLayout" Target="/ppt/slideLayouts/slideLayout2.xml" Id="rIdLayout2" /><Relationship Type="http://schemas.openxmlformats.org/officeDocument/2006/relationships/slideLayout" Target="/ppt/slideLayouts/slideLayout3.xml" Id="rIdLayout3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  <p:sldLayoutId id="2147483650" r:id="rIdLayout2"/>
    <p:sldLayoutId id="2147483651" r:id="rIdLayout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Masters/theme/theme1.xml><?xml version="1.0" encoding="utf-8"?>
<a:theme xmlns:a="http://schemas.openxmlformats.org/drawingml/2006/main" name="Writer">
  <a:themeElements>
    <a:clrScheme name="Writer">
      <a:dk1>
        <a:sysClr val="windowText" lastClr="000000"/>
      </a:dk1>
      <a:lt1>
        <a:sysClr val="window" lastClr="FFFFFF"/>
      </a:lt1>
      <a:dk2>
        <a:srgbClr val="1F2937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Writer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Writ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b878fa16d1b42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6726a6e8d914c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e2dcece3bcd45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6e09e7e64c543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516c80ba9bf4d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55a0104aa1c4ea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7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92000" y="2016000"/>
            <a:ext cx="720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rgbClr val="E0B25A"/>
                </a:solidFill>
              </a:rPr>
              <a:t>Autumn 2026 launch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92000" y="2520000"/>
            <a:ext cx="10080000" cy="165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7200" b="1">
                <a:solidFill>
                  <a:srgbClr val="F5F5F7"/>
                </a:solidFill>
              </a:rPr>
              <a:t>Together 3.0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92000" y="4392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rgbClr val="A1A1AA"/>
                </a:solidFill>
              </a:rPr>
              <a:t>The tool steps back. The work steps forward.</a:t>
            </a:r>
          </a:p>
        </p:txBody>
      </p:sp>
      <p:sp>
        <p:nvSpPr>
          <p:cNvPr id="5" name="Shape 5"/>
          <p:cNvSpPr/>
          <p:nvPr/>
        </p:nvSpPr>
        <p:spPr>
          <a:xfrm>
            <a:off x="864000" y="5472000"/>
            <a:ext cx="576000" cy="43200"/>
          </a:xfrm>
          <a:prstGeom prst="rect">
            <a:avLst/>
          </a:prstGeom>
          <a:solidFill>
            <a:srgbClr val="E0B25A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7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584000" y="1944000"/>
            <a:ext cx="576000" cy="43200"/>
          </a:xfrm>
          <a:prstGeom prst="rect">
            <a:avLst/>
          </a:prstGeom>
          <a:solidFill>
            <a:srgbClr val="E0B25A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512000" y="2160000"/>
            <a:ext cx="9180000" cy="216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rgbClr val="F5F5F7"/>
                </a:solidFill>
              </a:rPr>
              <a:t>No collaboration should start with “send me the latest version”.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12000" y="4536000"/>
            <a:ext cx="900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A1A1AA"/>
                </a:solidFill>
              </a:rPr>
              <a:t>We asked 1,200 teams. This is the sentence they said most.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7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E0B25A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F5F5F7"/>
                </a:solidFill>
              </a:rPr>
              <a:t>Three things that changed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A1A1AA"/>
                </a:solidFill>
              </a:rPr>
              <a:t>03</a:t>
            </a:r>
          </a:p>
        </p:txBody>
      </p:sp>
      <p:sp>
        <p:nvSpPr>
          <p:cNvPr id="5" name="Shape 5"/>
          <p:cNvSpPr/>
          <p:nvPr/>
        </p:nvSpPr>
        <p:spPr>
          <a:xfrm>
            <a:off x="864000" y="1872000"/>
            <a:ext cx="3319920" cy="2736000"/>
          </a:xfrm>
          <a:prstGeom prst="roundRect">
            <a:avLst/>
          </a:prstGeom>
          <a:solidFill>
            <a:srgbClr val="24262C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1152000" y="2232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E0B25A"/>
                </a:solidFill>
              </a:rPr>
              <a:t>Live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52000" y="3276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F5F5F7"/>
                </a:solidFill>
              </a:rPr>
              <a:t>Everyone edits at once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52000" y="3708000"/>
            <a:ext cx="2743920" cy="82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A1A1AA"/>
                </a:solidFill>
              </a:rPr>
              <a:t>Cursors, selections and edits show instantly; conflicts merge on their own</a:t>
            </a:r>
          </a:p>
        </p:txBody>
      </p:sp>
      <p:sp>
        <p:nvSpPr>
          <p:cNvPr id="9" name="Shape 9"/>
          <p:cNvSpPr/>
          <p:nvPr/>
        </p:nvSpPr>
        <p:spPr>
          <a:xfrm>
            <a:off x="4435920" y="1872000"/>
            <a:ext cx="3319920" cy="2736000"/>
          </a:xfrm>
          <a:prstGeom prst="roundRect">
            <a:avLst/>
          </a:prstGeom>
          <a:solidFill>
            <a:srgbClr val="24262C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4723920" y="2232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E0B25A"/>
                </a:solidFill>
              </a:rPr>
              <a:t>5 min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23920" y="3276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F5F5F7"/>
                </a:solidFill>
              </a:rPr>
              <a:t>Meetings become minutes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23920" y="3708000"/>
            <a:ext cx="2743920" cy="82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A1A1AA"/>
                </a:solidFill>
              </a:rPr>
              <a:t>Transcribe, summarise and assign the actions in one pass</a:t>
            </a:r>
          </a:p>
        </p:txBody>
      </p:sp>
      <p:sp>
        <p:nvSpPr>
          <p:cNvPr id="13" name="Shape 13"/>
          <p:cNvSpPr/>
          <p:nvPr/>
        </p:nvSpPr>
        <p:spPr>
          <a:xfrm>
            <a:off x="8008200" y="1872000"/>
            <a:ext cx="3319920" cy="2736000"/>
          </a:xfrm>
          <a:prstGeom prst="roundRect">
            <a:avLst/>
          </a:prstGeom>
          <a:solidFill>
            <a:srgbClr val="24262C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8296200" y="2232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E0B25A"/>
                </a:solidFill>
              </a:rPr>
              <a:t>Offline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96200" y="3276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F5F5F7"/>
                </a:solidFill>
              </a:rPr>
              <a:t>Works without a connection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6200" y="3708000"/>
            <a:ext cx="2743920" cy="82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A1A1AA"/>
                </a:solidFill>
              </a:rPr>
              <a:t>Saved locally, synced when you are 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7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E0B25A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F5F5F7"/>
                </a:solidFill>
              </a:rPr>
              <a:t>Compared with 2.0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A1A1AA"/>
                </a:solidFill>
              </a:rPr>
              <a:t>04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864000" y="1944000"/>
          <a:ext cx="10464120" cy="23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88040"/>
                <a:gridCol w="3488040"/>
                <a:gridCol w="3488040"/>
              </a:tblGrid>
              <a:tr h="468000">
                <a:tc>
                  <a:txBody>
                    <a:bodyPr/>
                    <a:lstStyle/>
                    <a:p/>
                  </a:txBody>
                  <a:tcPr>
                    <a:solidFill>
                      <a:srgbClr val="242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2.0</a:t>
                      </a:r>
                    </a:p>
                  </a:txBody>
                  <a:tcPr>
                    <a:solidFill>
                      <a:srgbClr val="24262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3.0</a:t>
                      </a:r>
                    </a:p>
                  </a:txBody>
                  <a:tcPr>
                    <a:solidFill>
                      <a:srgbClr val="24262C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F5F5F7"/>
                          </a:solidFill>
                        </a:rPr>
                        <a:t>Opening a 100-page document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F5F5F7"/>
                          </a:solidFill>
                        </a:rPr>
                        <a:t>3.2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F5F5F7"/>
                          </a:solidFill>
                        </a:rPr>
                        <a:t>0.8 s</a:t>
                      </a:r>
                    </a:p>
                  </a:txBody>
                  <a:tcPr/>
                </a:tc>
              </a:tr>
              <a:tr h="468000"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F5F5F7"/>
                          </a:solidFill>
                        </a:rPr>
                        <a:t>Simultaneous editors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F5F5F7"/>
                          </a:solidFill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F5F5F7"/>
                          </a:solidFill>
                        </a:rPr>
                        <a:t>100</a:t>
                      </a:r>
                    </a:p>
                  </a:txBody>
                  <a:tcPr/>
                </a:tc>
              </a:tr>
              <a:tr h="468000"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F5F5F7"/>
                          </a:solidFill>
                        </a:rPr>
                        <a:t>Offline editing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F5F5F7"/>
                          </a:solidFill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F5F5F7"/>
                          </a:solidFill>
                        </a:rPr>
                        <a:t>Yes</a:t>
                      </a:r>
                    </a:p>
                  </a:txBody>
                  <a:tcPr/>
                </a:tc>
              </a:tr>
              <a:tr h="468000"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F5F5F7"/>
                          </a:solidFill>
                        </a:rPr>
                        <a:t>AI drafting and minutes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F5F5F7"/>
                          </a:solidFill>
                        </a:rPr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500">
                          <a:solidFill>
                            <a:srgbClr val="F5F5F7"/>
                          </a:solidFill>
                        </a:rPr>
                        <a:t>Every format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7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E0B25A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F5F5F7"/>
                </a:solidFill>
              </a:rPr>
              <a:t>Price and availability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A1A1AA"/>
                </a:solidFill>
              </a:rPr>
              <a:t>05</a:t>
            </a:r>
          </a:p>
        </p:txBody>
      </p:sp>
      <p:sp>
        <p:nvSpPr>
          <p:cNvPr id="5" name="Shape 5"/>
          <p:cNvSpPr/>
          <p:nvPr/>
        </p:nvSpPr>
        <p:spPr>
          <a:xfrm>
            <a:off x="864000" y="1872000"/>
            <a:ext cx="3319920" cy="2736000"/>
          </a:xfrm>
          <a:prstGeom prst="roundRect">
            <a:avLst/>
          </a:prstGeom>
          <a:solidFill>
            <a:srgbClr val="24262C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1152000" y="2232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E0B25A"/>
                </a:solidFill>
              </a:rPr>
              <a:t>$0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52000" y="3276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F5F5F7"/>
                </a:solidFill>
              </a:rPr>
              <a:t>Personal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52000" y="3708000"/>
            <a:ext cx="2743920" cy="82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A1A1AA"/>
                </a:solidFill>
              </a:rPr>
              <a:t>Every feature, unlimited documents</a:t>
            </a:r>
          </a:p>
        </p:txBody>
      </p:sp>
      <p:sp>
        <p:nvSpPr>
          <p:cNvPr id="9" name="Shape 9"/>
          <p:cNvSpPr/>
          <p:nvPr/>
        </p:nvSpPr>
        <p:spPr>
          <a:xfrm>
            <a:off x="4435920" y="1872000"/>
            <a:ext cx="3319920" cy="2736000"/>
          </a:xfrm>
          <a:prstGeom prst="roundRect">
            <a:avLst/>
          </a:prstGeom>
          <a:solidFill>
            <a:srgbClr val="24262C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4723920" y="2232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E0B25A"/>
                </a:solidFill>
              </a:rPr>
              <a:t>$4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23920" y="3276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F5F5F7"/>
                </a:solidFill>
              </a:rPr>
              <a:t>Team · per person per month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23920" y="3708000"/>
            <a:ext cx="2743920" cy="82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A1A1AA"/>
                </a:solidFill>
              </a:rPr>
              <a:t>Shared spaces, permissions and audit</a:t>
            </a:r>
          </a:p>
        </p:txBody>
      </p:sp>
      <p:sp>
        <p:nvSpPr>
          <p:cNvPr id="13" name="Shape 13"/>
          <p:cNvSpPr/>
          <p:nvPr/>
        </p:nvSpPr>
        <p:spPr>
          <a:xfrm>
            <a:off x="8008200" y="1872000"/>
            <a:ext cx="3319920" cy="2736000"/>
          </a:xfrm>
          <a:prstGeom prst="roundRect">
            <a:avLst/>
          </a:prstGeom>
          <a:solidFill>
            <a:srgbClr val="24262C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8296200" y="2232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E0B25A"/>
                </a:solidFill>
              </a:rPr>
              <a:t>October 15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96200" y="3276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F5F5F7"/>
                </a:solidFill>
              </a:rPr>
              <a:t>On every platform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6200" y="3708000"/>
            <a:ext cx="2743920" cy="82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A1A1AA"/>
                </a:solidFill>
              </a:rPr>
              <a:t>Mac, Windows and the web on the same day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17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1044000" y="2628000"/>
            <a:ext cx="576000" cy="43200"/>
          </a:xfrm>
          <a:prstGeom prst="rect">
            <a:avLst/>
          </a:prstGeom>
          <a:solidFill>
            <a:srgbClr val="F0DCA8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972000" y="2808000"/>
            <a:ext cx="8640000" cy="93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800" b="1">
                <a:solidFill>
                  <a:srgbClr val="FFFFFF"/>
                </a:solidFill>
              </a:rPr>
              <a:t>Start today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972000" y="38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rgbClr val="F0DCA8"/>
                </a:solidFill>
              </a:rPr>
              <a:t>example.com/together</a:t>
            </a:r>
          </a:p>
        </p:txBody>
      </p:sp>
    </p:spTree>
  </p:cSld>
  <p:clrMapOvr>
    <a:masterClrMapping/>
  </p:clrMapOvr>
</p:sld>
</file>