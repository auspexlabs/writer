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3fd4c4a4332469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c4a71d64df68487e"/>
    <p:sldId id="257" r:id="R45fafc6a86e94ab1"/>
    <p:sldId id="258" r:id="R15480fdf9531452a"/>
    <p:sldId id="259" r:id="R34f7276402ea4441"/>
    <p:sldId id="260" r:id="R986ff634092c4a46"/>
    <p:sldId id="261" r:id="R4d2122e1e3cd4c8f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afd6a68199514cf5" /><Relationship Type="http://schemas.openxmlformats.org/officeDocument/2006/relationships/slide" Target="/ppt/slides/slide1.xml" Id="Rc4a71d64df68487e" /><Relationship Type="http://schemas.openxmlformats.org/officeDocument/2006/relationships/slide" Target="/ppt/slides/slide2.xml" Id="R45fafc6a86e94ab1" /><Relationship Type="http://schemas.openxmlformats.org/officeDocument/2006/relationships/slide" Target="/ppt/slides/slide3.xml" Id="R15480fdf9531452a" /><Relationship Type="http://schemas.openxmlformats.org/officeDocument/2006/relationships/slide" Target="/ppt/slides/slide4.xml" Id="R34f7276402ea4441" /><Relationship Type="http://schemas.openxmlformats.org/officeDocument/2006/relationships/slide" Target="/ppt/slides/slide5.xml" Id="R986ff634092c4a46" /><Relationship Type="http://schemas.openxmlformats.org/officeDocument/2006/relationships/slide" Target="/ppt/slides/slide6.xml" Id="R4d2122e1e3cd4c8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28f3673bd4e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3883dae0044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da0188f144c29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f148601cd145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077ddaa1b0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a1485374b241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f85cf0a00d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d2f09416fc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a2f38a4ecd48c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4000" cy="685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8136000" y="0"/>
            <a:ext cx="4056120" cy="6858000"/>
          </a:xfrm>
          <a:prstGeom prst="rect">
            <a:avLst/>
          </a:prstGeom>
          <a:solidFill>
            <a:srgbClr val="EAF1F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424000" y="3816000"/>
            <a:ext cx="3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0" b="1">
                <a:solidFill>
                  <a:srgbClr val="D5DEE9"/>
                </a:solidFill>
              </a:rPr>
              <a:t>F=ma</a:t>
            </a:r>
          </a:p>
        </p:txBody>
      </p:sp>
      <p:sp>
        <p:nvSpPr>
          <p:cNvPr id="5" name="Shape 5"/>
          <p:cNvSpPr/>
          <p:nvPr/>
        </p:nvSpPr>
        <p:spPr>
          <a:xfrm>
            <a:off x="1044000" y="1908000"/>
            <a:ext cx="576000" cy="432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72000" y="208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2F5D8A"/>
                </a:solidFill>
              </a:rPr>
              <a:t>Physics · Year 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2556000"/>
            <a:ext cx="684000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Newton’s Second Law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4536000"/>
            <a:ext cx="648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5B6B7C"/>
                </a:solidFill>
              </a:rPr>
              <a:t>Chapter 3, lesson 2 · Ms. Lee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What we will learn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Explain in your own words how acceleration depends on force and mass.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Know what each quantity in F = ma means, its unit and its direction.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Draw a force diagram for a simple situation and solve it.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See how a controlled experiment isolates one variable at a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The idea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B6B7C"/>
                </a:solidFill>
              </a:rPr>
              <a:t>From the experiment to the formula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The law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The acceleration of an object is proportional to the net force on it and inversely proportional to its mass.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 = ma, with the newton (N) = kg·m/s²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The acceleration points the same way as the net force.</a:t>
            </a:r>
          </a:p>
        </p:txBody>
      </p:sp>
      <p:sp>
        <p:nvSpPr>
          <p:cNvPr id="9" name="Shape 9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Things to notice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 is the net force, not any single force.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The more mass, the less acceleration the same force gives.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Force and acceleration appear, change and vanish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Worked 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5B6B7C"/>
                </a:solidFill>
              </a:rPr>
              <a:t>A 2 kg block on a smooth table is pulled horizontally with 6 N. Find its acceleration.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C5D6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Read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Known: m = 2 kg, F = 6 N; “smooth” means no friction</a:t>
            </a:r>
          </a:p>
        </p:txBody>
      </p:sp>
      <p:sp>
        <p:nvSpPr>
          <p:cNvPr id="10" name="Shape 10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Forces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Weight and the normal force cancel; the net force is the pull</a:t>
            </a:r>
          </a:p>
        </p:txBody>
      </p:sp>
      <p:sp>
        <p:nvSpPr>
          <p:cNvPr id="13" name="Shape 13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Equation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From F = ma, a = F / m</a:t>
            </a:r>
          </a:p>
        </p:txBody>
      </p:sp>
      <p:sp>
        <p:nvSpPr>
          <p:cNvPr id="16" name="Shape 16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Solve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5B6B7C"/>
                </a:solidFill>
              </a:rPr>
              <a:t>a = 6 / 2 = 3 m/s², in the direction of the pull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Practice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A 1,000 kg car starts with a 2,000 N driving force against 500 N of resistance. Find its acceleration.</a:t>
            </a:r>
          </a:p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The same force acts on masses m and 2m. What is the ratio of their accelerations?</a:t>
            </a:r>
          </a:p>
          <a:p>
            <a:pPr marL="342900" indent="-342900">
              <a:buAutoNum type="arabicPeriod"/>
            </a:pPr>
            <a:r>
              <a:rPr lang="en-US" sz="1700">
                <a:solidFill>
                  <a:srgbClr val="1D1D1F"/>
                </a:solidFill>
              </a:rPr>
              <a:t>An object moves in a straight line at constant speed. What is the net force on it, and why?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Summary and homework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5B6B7C"/>
                </a:solidFill>
              </a:rPr>
              <a:t>06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 = ma: the net force sets the acceleration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Forces first, equation second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Watch the units and the directions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2F5D8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2F5D8A"/>
                </a:solidFill>
              </a:rPr>
              <a:t>Homework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Textbook p. 78, questions 3, 5 and 7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Read ahead: Newton’s third law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Optional: design a small experiment to test F = ma</a:t>
            </a:r>
          </a:p>
        </p:txBody>
      </p:sp>
    </p:spTree>
  </p:cSld>
  <p:clrMapOvr>
    <a:masterClrMapping/>
  </p:clrMapOvr>
</p:sld>
</file>