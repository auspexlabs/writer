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2278e344c0d492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f228e66bec7f41b9"/>
    <p:sldId id="257" r:id="R551bab48db6a4f65"/>
    <p:sldId id="258" r:id="Rbf65be5880824377"/>
    <p:sldId id="259" r:id="Rb834fdb98b0546c5"/>
    <p:sldId id="260" r:id="R102c4ac1d20a4785"/>
    <p:sldId id="261" r:id="Re65ea2abe746406e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a344532e2fc8493e" /><Relationship Type="http://schemas.openxmlformats.org/officeDocument/2006/relationships/slide" Target="/ppt/slides/slide1.xml" Id="Rf228e66bec7f41b9" /><Relationship Type="http://schemas.openxmlformats.org/officeDocument/2006/relationships/slide" Target="/ppt/slides/slide2.xml" Id="R551bab48db6a4f65" /><Relationship Type="http://schemas.openxmlformats.org/officeDocument/2006/relationships/slide" Target="/ppt/slides/slide3.xml" Id="Rbf65be5880824377" /><Relationship Type="http://schemas.openxmlformats.org/officeDocument/2006/relationships/slide" Target="/ppt/slides/slide4.xml" Id="Rb834fdb98b0546c5" /><Relationship Type="http://schemas.openxmlformats.org/officeDocument/2006/relationships/slide" Target="/ppt/slides/slide5.xml" Id="R102c4ac1d20a4785" /><Relationship Type="http://schemas.openxmlformats.org/officeDocument/2006/relationships/slide" Target="/ppt/slides/slide6.xml" Id="Re65ea2abe746406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dc79d2e2648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bb56d6d0e4a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d6a77a2bd497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44119ba01740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50a47e735f4f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424f1fd8474b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fab030bde84a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155bb76d8943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410aab31f1420b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72000" y="936000"/>
            <a:ext cx="6480000" cy="28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0" b="1">
                <a:solidFill>
                  <a:srgbClr val="3A3A3C"/>
                </a:solidFill>
              </a:rPr>
              <a:t>2026</a:t>
            </a:r>
          </a:p>
        </p:txBody>
      </p:sp>
      <p:sp>
        <p:nvSpPr>
          <p:cNvPr id="3" name="Shape 3"/>
          <p:cNvSpPr/>
          <p:nvPr/>
        </p:nvSpPr>
        <p:spPr>
          <a:xfrm>
            <a:off x="1044000" y="3456000"/>
            <a:ext cx="576000" cy="432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972000" y="3636000"/>
            <a:ext cx="72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B08D57"/>
                </a:solidFill>
              </a:rPr>
              <a:t>Product · Year in Review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2000" y="4104000"/>
            <a:ext cx="8640000" cy="115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A year on one page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2000" y="5472000"/>
            <a:ext cx="72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A1A1AA"/>
                </a:solidFill>
              </a:rPr>
              <a:t>Alex Chen · December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The year in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E6E73"/>
                </a:solidFill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F2F2F4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Major releases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E6E73"/>
                </a:solidFill>
              </a:rPr>
              <a:t>One a quarter, none late</a:t>
            </a:r>
          </a:p>
        </p:txBody>
      </p:sp>
      <p:sp>
        <p:nvSpPr>
          <p:cNvPr id="9" name="Shape 9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F2F2F4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120k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Monthly active users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E6E73"/>
                </a:solidFill>
              </a:rPr>
              <a:t>Up 65% year on year</a:t>
            </a:r>
          </a:p>
        </p:txBody>
      </p:sp>
      <p:sp>
        <p:nvSpPr>
          <p:cNvPr id="13" name="Shape 13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F2F2F4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98.5%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Availability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E6E73"/>
                </a:solidFill>
              </a:rPr>
              <a:t>Three incidents, all resolved within 30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What we shipped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E6E73"/>
                </a:solidFill>
              </a:rPr>
              <a:t>Four quarters, four big things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E6E73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Q1 · Collaboration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6E6E73"/>
                </a:solidFill>
              </a:rPr>
              <a:t>Real-time editing launched; 20,000 teams in the first month</a:t>
            </a:r>
          </a:p>
        </p:txBody>
      </p:sp>
      <p:sp>
        <p:nvSpPr>
          <p:cNvPr id="10" name="Shape 10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Q2 · Membership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6E6E73"/>
                </a:solidFill>
              </a:rPr>
              <a:t>Points and tiers rebuilt; renewals up 9 points</a:t>
            </a:r>
          </a:p>
        </p:txBody>
      </p:sp>
      <p:sp>
        <p:nvSpPr>
          <p:cNvPr id="13" name="Shape 13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Q3 · Smart notes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6E6E73"/>
                </a:solidFill>
              </a:rPr>
              <a:t>Transcripts and summaries for 80% of recurring meetings</a:t>
            </a:r>
          </a:p>
        </p:txBody>
      </p:sp>
      <p:sp>
        <p:nvSpPr>
          <p:cNvPr id="16" name="Shape 16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Q4 · Reliability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6E6E73"/>
                </a:solidFill>
              </a:rPr>
              <a:t>Opens 40% faster; incident time halved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What worked, what did not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E6E73"/>
                </a:solidFill>
              </a:rPr>
              <a:t>04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Worked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A steady release rhythm and smooth cross-team work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The feedback loop is in place; turnaround down to two weeks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Three new hires now run projects on their own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Needs 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Reviews came late; Q2 had too much rework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Gaps in analytics left some decisions to gut feel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Too little written down; knowledge sits with a few people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Plan for 2027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E6E73"/>
                </a:solidFill>
              </a:rPr>
              <a:t>05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4000" y="1872000"/>
          <a:ext cx="10464120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030"/>
                <a:gridCol w="2616030"/>
                <a:gridCol w="2616030"/>
                <a:gridCol w="2616030"/>
              </a:tblGrid>
              <a:tr h="414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Key actions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D1D1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200k monthly actives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Mobile rebuild, invitations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All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Alex Chen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6% paid conversion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Team tiers and trials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Q1–Q2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Jordan Lee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99.9%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Multi-region deployment, change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Q1–Q3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Casey Kim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Docs for every module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Docs shipped with every release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Ongoing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Morgan Reed</a:t>
                      </a:r>
                    </a:p>
                  </a:txBody>
                  <a:tcPr>
                    <a:solidFill>
                      <a:srgbClr val="F2F2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Thank you for the year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B08D57"/>
                </a:solidFill>
              </a:rPr>
              <a:t>On to 2027</a:t>
            </a:r>
          </a:p>
        </p:txBody>
      </p:sp>
    </p:spTree>
  </p:cSld>
  <p:clrMapOvr>
    <a:masterClrMapping/>
  </p:clrMapOvr>
</p:sld>
</file>