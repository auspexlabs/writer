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02ca21612aa470b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4536fee9c366433e"/>
    <p:sldId id="257" r:id="Rf51d0b2840e34ea3"/>
    <p:sldId id="258" r:id="R875e5b321605472c"/>
    <p:sldId id="259" r:id="Rf7587a2f2aa04f35"/>
    <p:sldId id="260" r:id="Ra29ef86c1f5a4793"/>
    <p:sldId id="261" r:id="Rd8744438465c48ae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8831d116446e4241" /><Relationship Type="http://schemas.openxmlformats.org/officeDocument/2006/relationships/slide" Target="/ppt/slides/slide1.xml" Id="R4536fee9c366433e" /><Relationship Type="http://schemas.openxmlformats.org/officeDocument/2006/relationships/slide" Target="/ppt/slides/slide2.xml" Id="Rf51d0b2840e34ea3" /><Relationship Type="http://schemas.openxmlformats.org/officeDocument/2006/relationships/slide" Target="/ppt/slides/slide3.xml" Id="R875e5b321605472c" /><Relationship Type="http://schemas.openxmlformats.org/officeDocument/2006/relationships/slide" Target="/ppt/slides/slide4.xml" Id="Rf7587a2f2aa04f35" /><Relationship Type="http://schemas.openxmlformats.org/officeDocument/2006/relationships/slide" Target="/ppt/slides/slide5.xml" Id="Ra29ef86c1f5a4793" /><Relationship Type="http://schemas.openxmlformats.org/officeDocument/2006/relationships/slide" Target="/ppt/slides/slide6.xml" Id="Rd8744438465c48a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2ce857d9a047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b4923fea74e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19d34f37a4d57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28f375d727e41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7c15b96b8b24d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17c1b11955343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109c368a96a49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4ff181d7a4d4b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6c060d1e73b47ee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324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8136000" y="0"/>
            <a:ext cx="4056120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424000" y="3816000"/>
            <a:ext cx="3600000" cy="18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0" b="1">
                <a:solidFill>
                  <a:srgbClr val="D5DEE9"/>
                </a:solidFill>
              </a:rPr>
              <a:t>Q3</a:t>
            </a:r>
          </a:p>
        </p:txBody>
      </p:sp>
      <p:sp>
        <p:nvSpPr>
          <p:cNvPr id="5" name="Shape 5"/>
          <p:cNvSpPr/>
          <p:nvPr/>
        </p:nvSpPr>
        <p:spPr>
          <a:xfrm>
            <a:off x="1044000" y="1908000"/>
            <a:ext cx="576000" cy="43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972000" y="2088000"/>
            <a:ext cx="648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1F3A5F"/>
                </a:solidFill>
              </a:rPr>
              <a:t>Third quarter,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2000" y="2556000"/>
            <a:ext cx="684000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D1D1F"/>
                </a:solidFill>
              </a:rPr>
              <a:t>Marketing Quarterly Review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000" y="4536000"/>
            <a:ext cx="648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5E6B7A"/>
                </a:solidFill>
              </a:rPr>
              <a:t>Alex Chen · October 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Agenda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E6B7A"/>
                </a:solidFill>
              </a:rPr>
              <a:t>02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2592000"/>
            <a:ext cx="2376000" cy="21600"/>
          </a:xfrm>
          <a:prstGeom prst="rect">
            <a:avLst/>
          </a:prstGeom>
          <a:solidFill>
            <a:srgbClr val="C9D3E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736000"/>
            <a:ext cx="2376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1F3A5F"/>
                </a:solidFill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3384000"/>
            <a:ext cx="237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2000" y="3852000"/>
            <a:ext cx="2376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Targets and results</a:t>
            </a:r>
          </a:p>
        </p:txBody>
      </p:sp>
      <p:sp>
        <p:nvSpPr>
          <p:cNvPr id="9" name="Shape 9"/>
          <p:cNvSpPr/>
          <p:nvPr/>
        </p:nvSpPr>
        <p:spPr>
          <a:xfrm>
            <a:off x="3528000" y="2592000"/>
            <a:ext cx="2376000" cy="21600"/>
          </a:xfrm>
          <a:prstGeom prst="rect">
            <a:avLst/>
          </a:prstGeom>
          <a:solidFill>
            <a:srgbClr val="C9D3E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3456000" y="2736000"/>
            <a:ext cx="2376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1F3A5F"/>
                </a:solidFill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56000" y="3384000"/>
            <a:ext cx="237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Key numbers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56000" y="3852000"/>
            <a:ext cx="2376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Growth, conversion, return</a:t>
            </a:r>
          </a:p>
        </p:txBody>
      </p:sp>
      <p:sp>
        <p:nvSpPr>
          <p:cNvPr id="13" name="Shape 13"/>
          <p:cNvSpPr/>
          <p:nvPr/>
        </p:nvSpPr>
        <p:spPr>
          <a:xfrm>
            <a:off x="6192000" y="2592000"/>
            <a:ext cx="2376000" cy="21600"/>
          </a:xfrm>
          <a:prstGeom prst="rect">
            <a:avLst/>
          </a:prstGeom>
          <a:solidFill>
            <a:srgbClr val="C9D3E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6120000" y="2736000"/>
            <a:ext cx="2376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1F3A5F"/>
                </a:solidFill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20000" y="3384000"/>
            <a:ext cx="237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Projects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20000" y="3852000"/>
            <a:ext cx="2376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Where the three projects stand</a:t>
            </a:r>
          </a:p>
        </p:txBody>
      </p:sp>
      <p:sp>
        <p:nvSpPr>
          <p:cNvPr id="17" name="Shape 17"/>
          <p:cNvSpPr/>
          <p:nvPr/>
        </p:nvSpPr>
        <p:spPr>
          <a:xfrm>
            <a:off x="8856000" y="2592000"/>
            <a:ext cx="2376000" cy="21600"/>
          </a:xfrm>
          <a:prstGeom prst="rect">
            <a:avLst/>
          </a:prstGeom>
          <a:solidFill>
            <a:srgbClr val="C9D3E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8784000" y="2736000"/>
            <a:ext cx="2376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1F3A5F"/>
                </a:solidFill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84000" y="3384000"/>
            <a:ext cx="237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Next quarter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784000" y="3852000"/>
            <a:ext cx="2376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Goals, actions, support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Key numbers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4000" y="102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5E6B7A"/>
                </a:solidFill>
              </a:rPr>
              <a:t>How the main targets landed this quarter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E6B7A"/>
                </a:solidFill>
              </a:rPr>
              <a:t>03</a:t>
            </a:r>
          </a:p>
        </p:txBody>
      </p:sp>
      <p:sp>
        <p:nvSpPr>
          <p:cNvPr id="6" name="Shape 6"/>
          <p:cNvSpPr/>
          <p:nvPr/>
        </p:nvSpPr>
        <p:spPr>
          <a:xfrm>
            <a:off x="864000" y="1872000"/>
            <a:ext cx="3319920" cy="27360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11520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F3A5F"/>
                </a:solidFill>
              </a:rPr>
              <a:t>5.36M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0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Content reach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20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107% of target</a:t>
            </a:r>
          </a:p>
        </p:txBody>
      </p:sp>
      <p:sp>
        <p:nvSpPr>
          <p:cNvPr id="10" name="Shape 10"/>
          <p:cNvSpPr/>
          <p:nvPr/>
        </p:nvSpPr>
        <p:spPr>
          <a:xfrm>
            <a:off x="4435920" y="1872000"/>
            <a:ext cx="3319920" cy="27360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472392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F3A5F"/>
                </a:solidFill>
              </a:rPr>
              <a:t>32%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2392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Repeat purchase rate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2392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Up 4 points year on year</a:t>
            </a:r>
          </a:p>
        </p:txBody>
      </p:sp>
      <p:sp>
        <p:nvSpPr>
          <p:cNvPr id="14" name="Shape 14"/>
          <p:cNvSpPr/>
          <p:nvPr/>
        </p:nvSpPr>
        <p:spPr>
          <a:xfrm>
            <a:off x="8008200" y="1872000"/>
            <a:ext cx="3319920" cy="27360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82962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F3A5F"/>
                </a:solidFill>
              </a:rPr>
              <a:t>1 : 4.8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62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Return on spend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962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Industry average is 1 : 3.5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4000" y="5112000"/>
            <a:ext cx="1044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rgbClr val="5E6B7A"/>
                </a:solidFill>
              </a:rPr>
              <a:t>Source: platform dashboards and the member system, to September 30.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Project progress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E6B7A"/>
                </a:solidFill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4000" y="1944000"/>
            <a:ext cx="32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Autumn product launch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4000" y="2412000"/>
            <a:ext cx="432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All materials in place; launch event goes live October 1</a:t>
            </a:r>
          </a:p>
        </p:txBody>
      </p:sp>
      <p:sp>
        <p:nvSpPr>
          <p:cNvPr id="7" name="Shape 7"/>
          <p:cNvSpPr/>
          <p:nvPr/>
        </p:nvSpPr>
        <p:spPr>
          <a:xfrm>
            <a:off x="5256000" y="2106000"/>
            <a:ext cx="5184000" cy="1800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5256000" y="2106000"/>
            <a:ext cx="4665600" cy="180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10548000" y="1962000"/>
            <a:ext cx="93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F3A5F"/>
                </a:solidFill>
              </a:rPr>
              <a:t>90%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4000" y="3240000"/>
            <a:ext cx="32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Membership upgrade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4000" y="3708000"/>
            <a:ext cx="432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Points rules final; system work under way</a:t>
            </a:r>
          </a:p>
        </p:txBody>
      </p:sp>
      <p:sp>
        <p:nvSpPr>
          <p:cNvPr id="12" name="Shape 12"/>
          <p:cNvSpPr/>
          <p:nvPr/>
        </p:nvSpPr>
        <p:spPr>
          <a:xfrm>
            <a:off x="5256000" y="3402000"/>
            <a:ext cx="5184000" cy="1800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" name="Shape 13"/>
          <p:cNvSpPr/>
          <p:nvPr/>
        </p:nvSpPr>
        <p:spPr>
          <a:xfrm>
            <a:off x="5256000" y="3402000"/>
            <a:ext cx="3369600" cy="180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10548000" y="3258000"/>
            <a:ext cx="93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F3A5F"/>
                </a:solidFill>
              </a:rPr>
              <a:t>65%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4000" y="4536000"/>
            <a:ext cx="32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New channels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4000" y="5004000"/>
            <a:ext cx="432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5E6B7A"/>
                </a:solidFill>
              </a:rPr>
              <a:t>Two partners in talks; signing expected in November</a:t>
            </a:r>
          </a:p>
        </p:txBody>
      </p:sp>
      <p:sp>
        <p:nvSpPr>
          <p:cNvPr id="17" name="Shape 17"/>
          <p:cNvSpPr/>
          <p:nvPr/>
        </p:nvSpPr>
        <p:spPr>
          <a:xfrm>
            <a:off x="5256000" y="4698000"/>
            <a:ext cx="5184000" cy="1800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8" name="Shape 18"/>
          <p:cNvSpPr/>
          <p:nvPr/>
        </p:nvSpPr>
        <p:spPr>
          <a:xfrm>
            <a:off x="5256000" y="4698000"/>
            <a:ext cx="2073600" cy="180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10548000" y="4554000"/>
            <a:ext cx="93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F3A5F"/>
                </a:solidFill>
              </a:rPr>
              <a:t>40%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Next quarter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E6B7A"/>
                </a:solidFill>
              </a:rPr>
              <a:t>05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F3A5F"/>
                </a:solidFill>
              </a:rPr>
              <a:t>Goals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Reach 6 million in Q4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Lift repeat purchases to 35%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Sign two new channel partners</a:t>
            </a:r>
          </a:p>
        </p:txBody>
      </p:sp>
      <p:sp>
        <p:nvSpPr>
          <p:cNvPr id="8" name="Shape 8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F3A5F"/>
                </a:solidFill>
              </a:rPr>
              <a:t>Support needed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Design team for the November sale visuals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IT time for phase two of the member system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An extra $28,000 of channel budget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044000" y="2628000"/>
            <a:ext cx="576000" cy="432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972000" y="2808000"/>
            <a:ext cx="8640000" cy="93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2000" y="38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D5DEE9"/>
                </a:solidFill>
              </a:rPr>
              <a:t>Questions and discussion</a:t>
            </a:r>
          </a:p>
        </p:txBody>
      </p:sp>
    </p:spTree>
  </p:cSld>
  <p:clrMapOvr>
    <a:masterClrMapping/>
  </p:clrMapOvr>
</p:sld>
</file>