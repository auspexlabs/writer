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Masters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b1c94eb7efb94d13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Master"/>
  </p:sldMasterIdLst>
  <p:sldIdLst>
    <p:sldId id="256" r:id="Ra76d0105224a41b7"/>
    <p:sldId id="257" r:id="R6c2013cb92414737"/>
    <p:sldId id="258" r:id="R2372c132283d495c"/>
    <p:sldId id="259" r:id="Rbeb5158be1bf49cb"/>
    <p:sldId id="260" r:id="R218d5b20fe7f4af5"/>
    <p:sldId id="261" r:id="Reecae51a93d64efd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</p:defaultTextStyle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Master" /><Relationship Type="http://schemas.openxmlformats.org/officeDocument/2006/relationships/theme" Target="/ppt/slideMasters/theme/theme1.xml" Id="R15982bd160f44514" /><Relationship Type="http://schemas.openxmlformats.org/officeDocument/2006/relationships/slide" Target="/ppt/slides/slide1.xml" Id="Ra76d0105224a41b7" /><Relationship Type="http://schemas.openxmlformats.org/officeDocument/2006/relationships/slide" Target="/ppt/slides/slide2.xml" Id="R6c2013cb92414737" /><Relationship Type="http://schemas.openxmlformats.org/officeDocument/2006/relationships/slide" Target="/ppt/slides/slide3.xml" Id="R2372c132283d495c" /><Relationship Type="http://schemas.openxmlformats.org/officeDocument/2006/relationships/slide" Target="/ppt/slides/slide4.xml" Id="Rbeb5158be1bf49cb" /><Relationship Type="http://schemas.openxmlformats.org/officeDocument/2006/relationships/slide" Target="/ppt/slides/slide5.xml" Id="R218d5b20fe7f4af5" /><Relationship Type="http://schemas.openxmlformats.org/officeDocument/2006/relationships/slide" Target="/ppt/slides/slide6.xml" Id="Reecae51a93d64efd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8add6d08c5d446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52fbeb372e4dfc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3f78ed2c37443f3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None/>
              <a:defRPr sz="2400"/>
            </a:lvl1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1.xml" Id="rIdTheme" /><Relationship Type="http://schemas.openxmlformats.org/officeDocument/2006/relationships/slideLayout" Target="/ppt/slideLayouts/slideLayout1.xml" Id="rIdLayout1" /><Relationship Type="http://schemas.openxmlformats.org/officeDocument/2006/relationships/slideLayout" Target="/ppt/slideLayouts/slideLayout2.xml" Id="rIdLayout2" /><Relationship Type="http://schemas.openxmlformats.org/officeDocument/2006/relationships/slideLayout" Target="/ppt/slideLayouts/slideLayout3.xml" Id="rIdLayout3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lang="en-US"/>
              <a:t>Click to edit Master text styles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Layout1"/>
    <p:sldLayoutId id="2147483650" r:id="rIdLayout2"/>
    <p:sldLayoutId id="2147483651" r:id="rIdLayout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</p:otherStyle>
  </p:txStyles>
</p:sldMaster>
</file>

<file path=ppt/slideMasters/theme/theme1.xml><?xml version="1.0" encoding="utf-8"?>
<a:theme xmlns:a="http://schemas.openxmlformats.org/drawingml/2006/main" name="Writer">
  <a:themeElements>
    <a:clrScheme name="Writer">
      <a:dk1>
        <a:sysClr val="windowText" lastClr="000000"/>
      </a:dk1>
      <a:lt1>
        <a:sysClr val="window" lastClr="FFFFFF"/>
      </a:lt1>
      <a:dk2>
        <a:srgbClr val="1F2937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Writer">
      <a:majorFont>
        <a:latin typeface="Calibri Light"/>
        <a:ea typeface="Microsoft YaHei"/>
        <a:cs typeface=""/>
      </a:majorFont>
      <a:minorFont>
        <a:latin typeface="Calibri"/>
        <a:ea typeface="Microsoft YaHei"/>
        <a:cs typeface=""/>
      </a:minorFont>
    </a:fontScheme>
    <a:fmtScheme name="Writer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616de55c7f8347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a292324c699e40f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4a1d883988da4b5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f04ffbd3790041a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2e88ed5a6dfc4ff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9723f9c44d3e4ee0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0" y="0"/>
            <a:ext cx="6300000" cy="68580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864000" y="1872000"/>
            <a:ext cx="489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D7D0E1"/>
                </a:solidFill>
              </a:rPr>
              <a:t>Business plan · 2026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864000" y="2376000"/>
            <a:ext cx="4896000" cy="21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FFFFFF"/>
                </a:solidFill>
              </a:rPr>
              <a:t>“Together” collaboration platform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4752000"/>
            <a:ext cx="576000" cy="43200"/>
          </a:xfrm>
          <a:prstGeom prst="rect">
            <a:avLst/>
          </a:prstGeom>
          <a:solidFill>
            <a:srgbClr val="D7D0E1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864000" y="4932000"/>
            <a:ext cx="4896000" cy="50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D7D0E1"/>
                </a:solidFill>
              </a:rPr>
              <a:t>Lightweight collaboration for small teams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056000" y="2376000"/>
            <a:ext cx="4320000" cy="288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400">
                <a:solidFill>
                  <a:srgbClr val="6D6478"/>
                </a:solidFill>
              </a:rPr>
              <a:t>Brightline Technologies</a:t>
            </a:r>
          </a:p>
          <a:p>
            <a:r>
              <a:rPr lang="en-US" sz="1400">
                <a:solidFill>
                  <a:srgbClr val="6D6478"/>
                </a:solidFill>
              </a:rPr>
              <a:t>Founder: Alex Chen</a:t>
            </a:r>
          </a:p>
          <a:p>
            <a:r>
              <a:rPr lang="en-US" sz="1400">
                <a:solidFill>
                  <a:srgbClr val="6D6478"/>
                </a:solidFill>
              </a:rPr>
              <a:t>hello@example.com</a:t>
            </a:r>
          </a:p>
          <a:p>
            <a:r>
              <a:rPr lang="en-US" sz="1400">
                <a:solidFill>
                  <a:srgbClr val="6D6478"/>
                </a:solidFill>
              </a:rPr>
              <a:t> </a:t>
            </a:r>
          </a:p>
          <a:p>
            <a:r>
              <a:rPr lang="en-US" sz="1400">
                <a:solidFill>
                  <a:srgbClr val="6D6478"/>
                </a:solidFill>
              </a:rPr>
              <a:t>For prospective investors only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Problem and opportunity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D6478"/>
                </a:solidFill>
              </a:rPr>
              <a:t>02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4B3B63"/>
                </a:solidFill>
              </a:rPr>
              <a:t>What small teams struggle with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Tools built for enterprises: teams use less than a fifth of the features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Documents, sheets and slides live in three or four products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Versions travel through chat, and rework follows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4B3B63"/>
                </a:solidFill>
              </a:rPr>
              <a:t>Why now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Under 30% of small teams have adopted such tools, and adoption is growing fast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Paying by subscription is now normal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AI has cut the cost of drafting and organising content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The product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6D6478"/>
                </a:solidFill>
              </a:rPr>
              <a:t>One place to write, collaborate and draft with AI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D6478"/>
                </a:solidFill>
              </a:rPr>
              <a:t>03</a:t>
            </a:r>
          </a:p>
        </p:txBody>
      </p:sp>
      <p:sp>
        <p:nvSpPr>
          <p:cNvPr id="6" name="Shape 6"/>
          <p:cNvSpPr/>
          <p:nvPr/>
        </p:nvSpPr>
        <p:spPr>
          <a:xfrm>
            <a:off x="864000" y="1872000"/>
            <a:ext cx="3319920" cy="2736000"/>
          </a:xfrm>
          <a:prstGeom prst="roundRect">
            <a:avLst/>
          </a:prstGeom>
          <a:solidFill>
            <a:srgbClr val="F1EEF5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7" name="TextBox 7"/>
          <p:cNvSpPr txBox="1"/>
          <p:nvPr/>
        </p:nvSpPr>
        <p:spPr>
          <a:xfrm>
            <a:off x="11520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4B3B63"/>
                </a:solidFill>
              </a:rPr>
              <a:t>One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1520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One place for everything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1520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D6478"/>
                </a:solidFill>
              </a:rPr>
              <a:t>Documents, sheets, slides and mind maps behind one door, in formats desktop software opens</a:t>
            </a:r>
          </a:p>
        </p:txBody>
      </p:sp>
      <p:sp>
        <p:nvSpPr>
          <p:cNvPr id="10" name="Shape 10"/>
          <p:cNvSpPr/>
          <p:nvPr/>
        </p:nvSpPr>
        <p:spPr>
          <a:xfrm>
            <a:off x="4435920" y="1872000"/>
            <a:ext cx="3319920" cy="2736000"/>
          </a:xfrm>
          <a:prstGeom prst="roundRect">
            <a:avLst/>
          </a:prstGeom>
          <a:solidFill>
            <a:srgbClr val="F1EEF5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1" name="TextBox 11"/>
          <p:cNvSpPr txBox="1"/>
          <p:nvPr/>
        </p:nvSpPr>
        <p:spPr>
          <a:xfrm>
            <a:off x="472392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4B3B63"/>
                </a:solidFill>
              </a:rPr>
              <a:t>3 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472392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Sharing is collaborating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472392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D6478"/>
                </a:solidFill>
              </a:rPr>
              <a:t>One link in, real-time editing for everyone, every change traceable</a:t>
            </a:r>
          </a:p>
        </p:txBody>
      </p:sp>
      <p:sp>
        <p:nvSpPr>
          <p:cNvPr id="14" name="Shape 14"/>
          <p:cNvSpPr/>
          <p:nvPr/>
        </p:nvSpPr>
        <p:spPr>
          <a:xfrm>
            <a:off x="8008200" y="1872000"/>
            <a:ext cx="3319920" cy="2736000"/>
          </a:xfrm>
          <a:prstGeom prst="roundRect">
            <a:avLst/>
          </a:prstGeom>
          <a:solidFill>
            <a:srgbClr val="F1EEF5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5" name="TextBox 15"/>
          <p:cNvSpPr txBox="1"/>
          <p:nvPr/>
        </p:nvSpPr>
        <p:spPr>
          <a:xfrm>
            <a:off x="8296200" y="2232000"/>
            <a:ext cx="2743920" cy="864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4000" b="1">
                <a:solidFill>
                  <a:srgbClr val="4B3B63"/>
                </a:solidFill>
              </a:rPr>
              <a:t>10×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296200" y="3276000"/>
            <a:ext cx="2743920" cy="39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1D1D1F"/>
                </a:solidFill>
              </a:rPr>
              <a:t>Drafting with AI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8296200" y="3708000"/>
            <a:ext cx="2743920" cy="82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D6478"/>
                </a:solidFill>
              </a:rPr>
              <a:t>From a sentence to a first draft, from a recording to minutes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Market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D6478"/>
                </a:solidFill>
              </a:rPr>
              <a:t>04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864000" y="1944000"/>
            <a:ext cx="32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Addressable market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864000" y="2412000"/>
            <a:ext cx="432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D6478"/>
                </a:solidFill>
              </a:rPr>
              <a:t>About 18 billion a year spent by small teams on collaboration software</a:t>
            </a:r>
          </a:p>
        </p:txBody>
      </p:sp>
      <p:sp>
        <p:nvSpPr>
          <p:cNvPr id="7" name="Shape 7"/>
          <p:cNvSpPr/>
          <p:nvPr/>
        </p:nvSpPr>
        <p:spPr>
          <a:xfrm>
            <a:off x="5256000" y="2106000"/>
            <a:ext cx="5184000" cy="180000"/>
          </a:xfrm>
          <a:prstGeom prst="roundRect">
            <a:avLst/>
          </a:prstGeom>
          <a:solidFill>
            <a:srgbClr val="F1EEF5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8" name="Shape 8"/>
          <p:cNvSpPr/>
          <p:nvPr/>
        </p:nvSpPr>
        <p:spPr>
          <a:xfrm>
            <a:off x="5256000" y="2106000"/>
            <a:ext cx="5184000" cy="180000"/>
          </a:xfrm>
          <a:prstGeom prst="round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10548000" y="1962000"/>
            <a:ext cx="93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4B3B63"/>
                </a:solidFill>
              </a:rPr>
              <a:t>100%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864000" y="3240000"/>
            <a:ext cx="32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Serviceable market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64000" y="3708000"/>
            <a:ext cx="432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D6478"/>
                </a:solidFill>
              </a:rPr>
              <a:t>Knowledge-work teams: 7.2 billion a year</a:t>
            </a:r>
          </a:p>
        </p:txBody>
      </p:sp>
      <p:sp>
        <p:nvSpPr>
          <p:cNvPr id="12" name="Shape 12"/>
          <p:cNvSpPr/>
          <p:nvPr/>
        </p:nvSpPr>
        <p:spPr>
          <a:xfrm>
            <a:off x="5256000" y="3402000"/>
            <a:ext cx="5184000" cy="180000"/>
          </a:xfrm>
          <a:prstGeom prst="roundRect">
            <a:avLst/>
          </a:prstGeom>
          <a:solidFill>
            <a:srgbClr val="F1EEF5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3" name="Shape 13"/>
          <p:cNvSpPr/>
          <p:nvPr/>
        </p:nvSpPr>
        <p:spPr>
          <a:xfrm>
            <a:off x="5256000" y="3402000"/>
            <a:ext cx="2073600" cy="180000"/>
          </a:xfrm>
          <a:prstGeom prst="round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4" name="TextBox 14"/>
          <p:cNvSpPr txBox="1"/>
          <p:nvPr/>
        </p:nvSpPr>
        <p:spPr>
          <a:xfrm>
            <a:off x="10548000" y="3258000"/>
            <a:ext cx="93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4B3B63"/>
                </a:solidFill>
              </a:rPr>
              <a:t>40%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864000" y="4536000"/>
            <a:ext cx="32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1D1D1F"/>
                </a:solidFill>
              </a:rPr>
              <a:t>Three-year target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64000" y="5004000"/>
            <a:ext cx="432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6D6478"/>
                </a:solidFill>
              </a:rPr>
              <a:t>900 million in revenue, about a 1.2% share</a:t>
            </a:r>
          </a:p>
        </p:txBody>
      </p:sp>
      <p:sp>
        <p:nvSpPr>
          <p:cNvPr id="17" name="Shape 17"/>
          <p:cNvSpPr/>
          <p:nvPr/>
        </p:nvSpPr>
        <p:spPr>
          <a:xfrm>
            <a:off x="5256000" y="4698000"/>
            <a:ext cx="5184000" cy="180000"/>
          </a:xfrm>
          <a:prstGeom prst="roundRect">
            <a:avLst/>
          </a:prstGeom>
          <a:solidFill>
            <a:srgbClr val="F1EEF5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8" name="Shape 18"/>
          <p:cNvSpPr/>
          <p:nvPr/>
        </p:nvSpPr>
        <p:spPr>
          <a:xfrm>
            <a:off x="5256000" y="4698000"/>
            <a:ext cx="259200" cy="180000"/>
          </a:xfrm>
          <a:prstGeom prst="round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19" name="TextBox 19"/>
          <p:cNvSpPr txBox="1"/>
          <p:nvPr/>
        </p:nvSpPr>
        <p:spPr>
          <a:xfrm>
            <a:off x="10548000" y="4554000"/>
            <a:ext cx="936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600" b="1">
                <a:solidFill>
                  <a:srgbClr val="4B3B63"/>
                </a:solidFill>
              </a:rPr>
              <a:t>5%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Business model and forecast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44000" y="1026000"/>
            <a:ext cx="9360000" cy="36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6D6478"/>
                </a:solidFill>
              </a:rPr>
              <a:t>A free personal tier brings people in; teams pay per seat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D6478"/>
                </a:solidFill>
              </a:rPr>
              <a:t>05</a:t>
            </a:r>
          </a:p>
        </p:txBody>
      </p:sp>
      <p:graphicFrame>
        <p:nvGraphicFramePr>
          <p:cNvPr id="6" name="Table 6"/>
          <p:cNvGraphicFramePr>
            <a:graphicFrameLocks noGrp="1"/>
          </p:cNvGraphicFramePr>
          <p:nvPr/>
        </p:nvGraphicFramePr>
        <p:xfrm>
          <a:off x="864000" y="1872000"/>
          <a:ext cx="10464120" cy="16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2824"/>
                <a:gridCol w="2092824"/>
                <a:gridCol w="2092824"/>
                <a:gridCol w="2092824"/>
                <a:gridCol w="2092824"/>
              </a:tblGrid>
              <a:tr h="414000"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Year</a:t>
                      </a:r>
                    </a:p>
                  </a:txBody>
                  <a:tcPr>
                    <a:solidFill>
                      <a:srgbClr val="4B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Paying teams</a:t>
                      </a:r>
                    </a:p>
                  </a:txBody>
                  <a:tcPr>
                    <a:solidFill>
                      <a:srgbClr val="4B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Annual recurring revenue</a:t>
                      </a:r>
                    </a:p>
                  </a:txBody>
                  <a:tcPr>
                    <a:solidFill>
                      <a:srgbClr val="4B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Gross margin</a:t>
                      </a:r>
                    </a:p>
                  </a:txBody>
                  <a:tcPr>
                    <a:solidFill>
                      <a:srgbClr val="4B3B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>
                          <a:solidFill>
                            <a:srgbClr val="FFFFFF"/>
                          </a:solidFill>
                        </a:rPr>
                        <a:t>Headcount</a:t>
                      </a:r>
                    </a:p>
                  </a:txBody>
                  <a:tcPr>
                    <a:solidFill>
                      <a:srgbClr val="4B3B63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2027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2,000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14M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28</a:t>
                      </a:r>
                    </a:p>
                  </a:txBody>
                  <a:tcPr/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2028</a:t>
                      </a:r>
                    </a:p>
                  </a:txBody>
                  <a:tcPr>
                    <a:solidFill>
                      <a:srgbClr val="F1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9,000</a:t>
                      </a:r>
                    </a:p>
                  </a:txBody>
                  <a:tcPr>
                    <a:solidFill>
                      <a:srgbClr val="F1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72M</a:t>
                      </a:r>
                    </a:p>
                  </a:txBody>
                  <a:tcPr>
                    <a:solidFill>
                      <a:srgbClr val="F1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74%</a:t>
                      </a:r>
                    </a:p>
                  </a:txBody>
                  <a:tcPr>
                    <a:solidFill>
                      <a:srgbClr val="F1EEF5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65</a:t>
                      </a:r>
                    </a:p>
                  </a:txBody>
                  <a:tcPr>
                    <a:solidFill>
                      <a:srgbClr val="F1EEF5"/>
                    </a:solidFill>
                  </a:tcPr>
                </a:tc>
              </a:tr>
              <a:tr h="414000"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2029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30,000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260M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78%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400">
                          <a:solidFill>
                            <a:srgbClr val="1D1D1F"/>
                          </a:solidFill>
                        </a:rPr>
                        <a:t>140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7" name="TextBox 7"/>
          <p:cNvSpPr txBox="1"/>
          <p:nvPr/>
        </p:nvSpPr>
        <p:spPr>
          <a:xfrm>
            <a:off x="864000" y="3816000"/>
            <a:ext cx="10464120" cy="7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300">
                <a:solidFill>
                  <a:srgbClr val="6D6478"/>
                </a:solidFill>
              </a:rPr>
              <a:t>Pricing: personal free; team 29 per seat per month, 20% off annually; enterprise on request. Target payback on acquisition cost: nine months.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/>
          <p:nvPr/>
        </p:nvSpPr>
        <p:spPr>
          <a:xfrm>
            <a:off x="864000" y="558000"/>
            <a:ext cx="64800" cy="4680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3" name="TextBox 3"/>
          <p:cNvSpPr txBox="1"/>
          <p:nvPr/>
        </p:nvSpPr>
        <p:spPr>
          <a:xfrm>
            <a:off x="1044000" y="468000"/>
            <a:ext cx="9360000" cy="576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600" b="1">
                <a:solidFill>
                  <a:srgbClr val="1D1D1F"/>
                </a:solidFill>
              </a:rPr>
              <a:t>Team and the round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0872000" y="6300000"/>
            <a:ext cx="576000" cy="288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rgbClr val="6D6478"/>
                </a:solidFill>
              </a:rPr>
              <a:t>06</a:t>
            </a:r>
          </a:p>
        </p:txBody>
      </p:sp>
      <p:sp>
        <p:nvSpPr>
          <p:cNvPr id="5" name="Shape 5"/>
          <p:cNvSpPr/>
          <p:nvPr/>
        </p:nvSpPr>
        <p:spPr>
          <a:xfrm>
            <a:off x="864000" y="1908000"/>
            <a:ext cx="5040000" cy="216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6" name="TextBox 6"/>
          <p:cNvSpPr txBox="1"/>
          <p:nvPr/>
        </p:nvSpPr>
        <p:spPr>
          <a:xfrm>
            <a:off x="7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4B3B63"/>
                </a:solidFill>
              </a:rPr>
              <a:t>Team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7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Alex Chen, CEO: ten years in collaboration products, formerly led product at a major office suite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Jordan Lee, CTO: distributed systems and real-time sync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Sam Taylor, COO: small-business channels and sales</a:t>
            </a:r>
          </a:p>
        </p:txBody>
      </p:sp>
      <p:sp>
        <p:nvSpPr>
          <p:cNvPr id="8" name="Shape 8"/>
          <p:cNvSpPr/>
          <p:nvPr/>
        </p:nvSpPr>
        <p:spPr>
          <a:xfrm>
            <a:off x="6264000" y="1908000"/>
            <a:ext cx="5040000" cy="21600"/>
          </a:xfrm>
          <a:prstGeom prst="rect">
            <a:avLst/>
          </a:prstGeom>
          <a:solidFill>
            <a:srgbClr val="4B3B63"/>
          </a:solidFill>
          <a:ln>
            <a:noFill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/>
        </p:txBody>
      </p:sp>
      <p:sp>
        <p:nvSpPr>
          <p:cNvPr id="9" name="TextBox 9"/>
          <p:cNvSpPr txBox="1"/>
          <p:nvPr/>
        </p:nvSpPr>
        <p:spPr>
          <a:xfrm>
            <a:off x="6192000" y="2052000"/>
            <a:ext cx="5040000" cy="432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1800" b="1">
                <a:solidFill>
                  <a:srgbClr val="4B3B63"/>
                </a:solidFill>
              </a:rPr>
              <a:t>This round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6192000" y="2592000"/>
            <a:ext cx="5040000" cy="342000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Raising 30 million for 15%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Use of funds: 55% engineering, 30% marketing, 15% operations</a:t>
            </a:r>
          </a:p>
          <a:p>
            <a:pPr marL="342900" indent="-342900">
              <a:buFont typeface="Arial"/>
              <a:buChar char="•"/>
            </a:pPr>
            <a:r>
              <a:rPr lang="en-US" sz="1500">
                <a:solidFill>
                  <a:srgbClr val="1D1D1F"/>
                </a:solidFill>
              </a:rPr>
              <a:t>Milestone: 9,000 paying teams within 18 months</a:t>
            </a:r>
          </a:p>
        </p:txBody>
      </p:sp>
    </p:spTree>
  </p:cSld>
  <p:clrMapOvr>
    <a:masterClrMapping/>
  </p:clrMapOvr>
</p:sld>
</file>