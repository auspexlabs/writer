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9bdcd947dbf4f57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fcc54675c5f240df"/>
    <p:sldId id="257" r:id="R94c1d2b2bb1f4a0a"/>
    <p:sldId id="258" r:id="Rf8e23be005dc4f84"/>
    <p:sldId id="259" r:id="Rdb596d5e49444ff4"/>
    <p:sldId id="260" r:id="Ra031b76a1c804b3e"/>
    <p:sldId id="261" r:id="R84addf32d64d4b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f2be12dfff3443ee" /><Relationship Type="http://schemas.openxmlformats.org/officeDocument/2006/relationships/slide" Target="/ppt/slides/slide1.xml" Id="Rfcc54675c5f240df" /><Relationship Type="http://schemas.openxmlformats.org/officeDocument/2006/relationships/slide" Target="/ppt/slides/slide2.xml" Id="R94c1d2b2bb1f4a0a" /><Relationship Type="http://schemas.openxmlformats.org/officeDocument/2006/relationships/slide" Target="/ppt/slides/slide3.xml" Id="Rf8e23be005dc4f84" /><Relationship Type="http://schemas.openxmlformats.org/officeDocument/2006/relationships/slide" Target="/ppt/slides/slide4.xml" Id="Rdb596d5e49444ff4" /><Relationship Type="http://schemas.openxmlformats.org/officeDocument/2006/relationships/slide" Target="/ppt/slides/slide5.xml" Id="Ra031b76a1c804b3e" /><Relationship Type="http://schemas.openxmlformats.org/officeDocument/2006/relationships/slide" Target="/ppt/slides/slide6.xml" Id="R84addf32d64d4bd5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b98ab53094d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549ca61f341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1d129b6dcc4eeb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8ae278577c4b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2401040b5854c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16887b3f8349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5593ff8b8047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e8dc9d67d6145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6c734f7595407f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300000" cy="68580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64000" y="1872000"/>
            <a:ext cx="489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D7D0E1"/>
                </a:solidFill>
              </a:rPr>
              <a:t>商业计划书 · 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4000" y="2376000"/>
            <a:ext cx="4896000" cy="21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「一起写」协作文档平台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4752000"/>
            <a:ext cx="576000" cy="43200"/>
          </a:xfrm>
          <a:prstGeom prst="rect">
            <a:avLst/>
          </a:prstGeom>
          <a:solidFill>
            <a:srgbClr val="D7D0E1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864000" y="4932000"/>
            <a:ext cx="4896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D7D0E1"/>
                </a:solidFill>
              </a:rPr>
              <a:t>面向中小团队的轻量协作工具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56000" y="2376000"/>
            <a:ext cx="4320000" cy="28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6D6478"/>
                </a:solidFill>
              </a:rPr>
              <a:t>远山科技有限公司</a:t>
            </a:r>
          </a:p>
          <a:p>
            <a:r>
              <a:rPr lang="en-US" sz="1400">
                <a:solidFill>
                  <a:srgbClr val="6D6478"/>
                </a:solidFill>
              </a:rPr>
              <a:t>创始人：李明</a:t>
            </a:r>
          </a:p>
          <a:p>
            <a:r>
              <a:rPr lang="en-US" sz="1400">
                <a:solidFill>
                  <a:srgbClr val="6D6478"/>
                </a:solidFill>
              </a:rPr>
              <a:t>hello@example.com</a:t>
            </a:r>
          </a:p>
          <a:p>
            <a:r>
              <a:rPr lang="en-US" sz="1400">
                <a:solidFill>
                  <a:srgbClr val="6D6478"/>
                </a:solidFill>
              </a:rPr>
              <a:t> </a:t>
            </a:r>
          </a:p>
          <a:p>
            <a:r>
              <a:rPr lang="en-US" sz="1400">
                <a:solidFill>
                  <a:srgbClr val="6D6478"/>
                </a:solidFill>
              </a:rPr>
              <a:t>本文件仅供投资人内部参考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问题与机会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D6478"/>
                </a:solidFill>
              </a:rPr>
              <a:t>02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4B3B63"/>
                </a:solidFill>
              </a:rPr>
              <a:t>中小团队的痛点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协作工具太重：功能多，用起来的不到两成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文档、表格、演示分散在三四个产品里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版本靠聊天软件传来传去，返工多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4B3B63"/>
                </a:solidFill>
              </a:rPr>
              <a:t>为什么是现在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中小团队数字化渗透率不足 30%，仍在快速增长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订阅付费习惯已经形成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AI 大幅降低了内容起草与整理的门槛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产品与解决方案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6D6478"/>
                </a:solidFill>
              </a:rPr>
              <a:t>一处编辑，随手协作，AI 起草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D6478"/>
                </a:solidFill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F1EEF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4B3B63"/>
                </a:solidFill>
              </a:rPr>
              <a:t>一处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一个地方写完所有东西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D6478"/>
                </a:solidFill>
              </a:rPr>
              <a:t>文档、表格、演示、导图同一入口，格式与桌面软件互通</a:t>
            </a:r>
          </a:p>
        </p:txBody>
      </p:sp>
      <p:sp>
        <p:nvSpPr>
          <p:cNvPr id="10" name="Shape 10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F1EEF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4B3B63"/>
                </a:solidFill>
              </a:rPr>
              <a:t>3 秒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分享即协作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D6478"/>
                </a:solidFill>
              </a:rPr>
              <a:t>一个链接进入，多人实时编辑，改动可追溯</a:t>
            </a:r>
          </a:p>
        </p:txBody>
      </p:sp>
      <p:sp>
        <p:nvSpPr>
          <p:cNvPr id="14" name="Shape 14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F1EEF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4B3B63"/>
                </a:solidFill>
              </a:rPr>
              <a:t>10×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AI 起草与整理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D6478"/>
                </a:solidFill>
              </a:rPr>
              <a:t>从一句话到初稿，从录音到纪要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市场规模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D6478"/>
                </a:solidFill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4000" y="1944000"/>
            <a:ext cx="32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可触达市场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4000" y="2412000"/>
            <a:ext cx="432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D6478"/>
                </a:solidFill>
              </a:rPr>
              <a:t>全国中小团队协作软件支出约 180 亿元 / 年</a:t>
            </a:r>
          </a:p>
        </p:txBody>
      </p:sp>
      <p:sp>
        <p:nvSpPr>
          <p:cNvPr id="7" name="Shape 7"/>
          <p:cNvSpPr/>
          <p:nvPr/>
        </p:nvSpPr>
        <p:spPr>
          <a:xfrm>
            <a:off x="5256000" y="2106000"/>
            <a:ext cx="5184000" cy="180000"/>
          </a:xfrm>
          <a:prstGeom prst="roundRect">
            <a:avLst/>
          </a:prstGeom>
          <a:solidFill>
            <a:srgbClr val="F1EEF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5256000" y="2106000"/>
            <a:ext cx="5184000" cy="180000"/>
          </a:xfrm>
          <a:prstGeom prst="round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0548000" y="1962000"/>
            <a:ext cx="93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4B3B63"/>
                </a:solidFill>
              </a:rPr>
              <a:t>100%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4000" y="3240000"/>
            <a:ext cx="32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可服务市场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4000" y="3708000"/>
            <a:ext cx="432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D6478"/>
                </a:solidFill>
              </a:rPr>
              <a:t>知识型团队，72 亿元 / 年</a:t>
            </a:r>
          </a:p>
        </p:txBody>
      </p:sp>
      <p:sp>
        <p:nvSpPr>
          <p:cNvPr id="12" name="Shape 12"/>
          <p:cNvSpPr/>
          <p:nvPr/>
        </p:nvSpPr>
        <p:spPr>
          <a:xfrm>
            <a:off x="5256000" y="3402000"/>
            <a:ext cx="5184000" cy="180000"/>
          </a:xfrm>
          <a:prstGeom prst="roundRect">
            <a:avLst/>
          </a:prstGeom>
          <a:solidFill>
            <a:srgbClr val="F1EEF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" name="Shape 13"/>
          <p:cNvSpPr/>
          <p:nvPr/>
        </p:nvSpPr>
        <p:spPr>
          <a:xfrm>
            <a:off x="5256000" y="3402000"/>
            <a:ext cx="2073600" cy="180000"/>
          </a:xfrm>
          <a:prstGeom prst="round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10548000" y="3258000"/>
            <a:ext cx="93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4B3B63"/>
                </a:solidFill>
              </a:rPr>
              <a:t>40%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4000" y="4536000"/>
            <a:ext cx="32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三年目标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4000" y="5004000"/>
            <a:ext cx="432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D6478"/>
                </a:solidFill>
              </a:rPr>
              <a:t>9 亿元营收，约 1.2% 份额</a:t>
            </a:r>
          </a:p>
        </p:txBody>
      </p:sp>
      <p:sp>
        <p:nvSpPr>
          <p:cNvPr id="17" name="Shape 17"/>
          <p:cNvSpPr/>
          <p:nvPr/>
        </p:nvSpPr>
        <p:spPr>
          <a:xfrm>
            <a:off x="5256000" y="4698000"/>
            <a:ext cx="5184000" cy="180000"/>
          </a:xfrm>
          <a:prstGeom prst="roundRect">
            <a:avLst/>
          </a:prstGeom>
          <a:solidFill>
            <a:srgbClr val="F1EEF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8" name="Shape 18"/>
          <p:cNvSpPr/>
          <p:nvPr/>
        </p:nvSpPr>
        <p:spPr>
          <a:xfrm>
            <a:off x="5256000" y="4698000"/>
            <a:ext cx="259200" cy="180000"/>
          </a:xfrm>
          <a:prstGeom prst="round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10548000" y="4554000"/>
            <a:ext cx="93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4B3B63"/>
                </a:solidFill>
              </a:rPr>
              <a:t>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商业模式与财务预测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6D6478"/>
                </a:solidFill>
              </a:rPr>
              <a:t>免费个人版获客，团队版按席位订阅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D6478"/>
                </a:solidFill>
              </a:rPr>
              <a:t>05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64000" y="1872000"/>
          <a:ext cx="10464120" cy="16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824"/>
                <a:gridCol w="2092824"/>
                <a:gridCol w="2092824"/>
                <a:gridCol w="2092824"/>
                <a:gridCol w="2092824"/>
              </a:tblGrid>
              <a:tr h="414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年份</a:t>
                      </a:r>
                    </a:p>
                  </a:txBody>
                  <a:tcPr>
                    <a:solidFill>
                      <a:srgbClr val="4B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付费团队</a:t>
                      </a:r>
                    </a:p>
                  </a:txBody>
                  <a:tcPr>
                    <a:solidFill>
                      <a:srgbClr val="4B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年经常性收入</a:t>
                      </a:r>
                    </a:p>
                  </a:txBody>
                  <a:tcPr>
                    <a:solidFill>
                      <a:srgbClr val="4B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毛利率</a:t>
                      </a:r>
                    </a:p>
                  </a:txBody>
                  <a:tcPr>
                    <a:solidFill>
                      <a:srgbClr val="4B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团队规模</a:t>
                      </a:r>
                    </a:p>
                  </a:txBody>
                  <a:tcPr>
                    <a:solidFill>
                      <a:srgbClr val="4B3B63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1,400 万元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28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2028</a:t>
                      </a:r>
                    </a:p>
                  </a:txBody>
                  <a:tcPr>
                    <a:solidFill>
                      <a:srgbClr val="F1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9,000</a:t>
                      </a:r>
                    </a:p>
                  </a:txBody>
                  <a:tcPr>
                    <a:solidFill>
                      <a:srgbClr val="F1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7,200 万元</a:t>
                      </a:r>
                    </a:p>
                  </a:txBody>
                  <a:tcPr>
                    <a:solidFill>
                      <a:srgbClr val="F1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74%</a:t>
                      </a:r>
                    </a:p>
                  </a:txBody>
                  <a:tcPr>
                    <a:solidFill>
                      <a:srgbClr val="F1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1EEF5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2.6 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140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864000" y="3816000"/>
            <a:ext cx="10464120" cy="7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6D6478"/>
                </a:solidFill>
              </a:rPr>
              <a:t>定价：个人版免费；团队版每席位每月 29 元，年付八折；企业版按需报价。获客成本回收期目标 9 个月。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团队与融资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D6478"/>
                </a:solidFill>
              </a:rPr>
              <a:t>06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4B3B63"/>
                </a:solidFill>
              </a:rPr>
              <a:t>核心团队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李明，CEO：10 年协作产品经验，前大型办公软件产品负责人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王芳，CTO：分布式系统与实时协同技术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张伟，COO：中小企业渠道与销售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4B3B63"/>
                </a:solidFill>
              </a:rPr>
              <a:t>本轮融资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融资 3,000 万元，出让 15% 股份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用途：研发 55%、市场 30%、运营 15%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里程碑：18 个月内达到 9,000 付费团队</a:t>
            </a:r>
          </a:p>
        </p:txBody>
      </p:sp>
    </p:spTree>
  </p:cSld>
  <p:clrMapOvr>
    <a:masterClrMapping/>
  </p:clrMapOvr>
</p:sld>
</file>