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8603a6b566844c9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dd832a3a50a84f89"/>
    <p:sldId id="257" r:id="R982a2c0ae9c54b90"/>
    <p:sldId id="258" r:id="R3f19e32953584d4a"/>
    <p:sldId id="259" r:id="Rd40981609afd4ed2"/>
    <p:sldId id="260" r:id="R62fb85942fb6401f"/>
    <p:sldId id="261" r:id="Rd1f9d4cbf2944a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theme" Target="/ppt/slideMasters/theme/theme1.xml" Id="Rc23c485e58044bcf" /><Relationship Type="http://schemas.openxmlformats.org/officeDocument/2006/relationships/slide" Target="/ppt/slides/slide1.xml" Id="Rdd832a3a50a84f89" /><Relationship Type="http://schemas.openxmlformats.org/officeDocument/2006/relationships/slide" Target="/ppt/slides/slide2.xml" Id="R982a2c0ae9c54b90" /><Relationship Type="http://schemas.openxmlformats.org/officeDocument/2006/relationships/slide" Target="/ppt/slides/slide3.xml" Id="R3f19e32953584d4a" /><Relationship Type="http://schemas.openxmlformats.org/officeDocument/2006/relationships/slide" Target="/ppt/slides/slide4.xml" Id="Rd40981609afd4ed2" /><Relationship Type="http://schemas.openxmlformats.org/officeDocument/2006/relationships/slide" Target="/ppt/slides/slide5.xml" Id="R62fb85942fb6401f" /><Relationship Type="http://schemas.openxmlformats.org/officeDocument/2006/relationships/slide" Target="/ppt/slides/slide6.xml" Id="Rd1f9d4cbf2944a5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b6909fddce42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831d3fe32e406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ae2b4a532a42b4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" /><Relationship Type="http://schemas.openxmlformats.org/officeDocument/2006/relationships/slideLayout" Target="/ppt/slideLayouts/slideLayout1.xml" Id="rIdLayout1" /><Relationship Type="http://schemas.openxmlformats.org/officeDocument/2006/relationships/slideLayout" Target="/ppt/slideLayouts/slideLayout2.xml" Id="rIdLayout2" /><Relationship Type="http://schemas.openxmlformats.org/officeDocument/2006/relationships/slideLayout" Target="/ppt/slideLayouts/slideLayout3.xml" Id="rIdLayout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Masters/theme/theme1.xml><?xml version="1.0" encoding="utf-8"?>
<a:theme xmlns:a="http://schemas.openxmlformats.org/drawingml/2006/main" name="Writer">
  <a:themeElements>
    <a:clrScheme name="Writer">
      <a:dk1>
        <a:sysClr val="windowText" lastClr="000000"/>
      </a:dk1>
      <a:lt1>
        <a:sysClr val="window" lastClr="FFFFFF"/>
      </a:lt1>
      <a:dk2>
        <a:srgbClr val="1F2937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riter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Wri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08a8994c1614c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e6939a990084b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37a7ff2c90749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972283fb7a4a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82a19104e1742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be7fc06ac014782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2160000"/>
            <a:ext cx="576000" cy="43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792000" y="2340000"/>
            <a:ext cx="936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5E6B7A"/>
                </a:solidFill>
              </a:rPr>
              <a:t>本科毕业论文答辩 · 江城大学管理学院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2000" y="2808000"/>
            <a:ext cx="10080000" cy="14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D1D1F"/>
                </a:solidFill>
              </a:rPr>
              <a:t>基于用户行为数据的协作工具留存分析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2000" y="4752000"/>
            <a:ext cx="1008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5E6B7A"/>
                </a:solidFill>
              </a:rPr>
              <a:t>答辩人：李明　　指导教师：王芳 教授　　2026 年 5 月 20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研究背景与问题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E6B7A"/>
                </a:solidFill>
              </a:rPr>
              <a:t>02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908000"/>
            <a:ext cx="5040000" cy="2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7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F3A5F"/>
                </a:solidFill>
              </a:rPr>
              <a:t>研究背景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协作工具用户获取成本高，但次月流失普遍超过 50%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已有研究多用漏斗描述流失，少有早期行为的量化分析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产品团队需要可操作的引导策略依据</a:t>
            </a:r>
          </a:p>
        </p:txBody>
      </p:sp>
      <p:sp>
        <p:nvSpPr>
          <p:cNvPr id="8" name="Shape 8"/>
          <p:cNvSpPr/>
          <p:nvPr/>
        </p:nvSpPr>
        <p:spPr>
          <a:xfrm>
            <a:off x="6264000" y="1908000"/>
            <a:ext cx="5040000" cy="2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1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F3A5F"/>
                </a:solidFill>
              </a:rPr>
              <a:t>研究问题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500">
                <a:solidFill>
                  <a:srgbClr val="1D1D1F"/>
                </a:solidFill>
              </a:rPr>
              <a:t>哪些首周行为与次月留存显著相关？</a:t>
            </a:r>
          </a:p>
          <a:p>
            <a:pPr marL="342900" indent="-342900">
              <a:buAutoNum type="arabicPeriod"/>
            </a:pPr>
            <a:r>
              <a:rPr lang="en-US" sz="1500">
                <a:solidFill>
                  <a:srgbClr val="1D1D1F"/>
                </a:solidFill>
              </a:rPr>
              <a:t>协作规模对留存的作用是否存在阈值？</a:t>
            </a:r>
          </a:p>
          <a:p>
            <a:pPr marL="342900" indent="-342900">
              <a:buAutoNum type="arabicPeriod"/>
            </a:pPr>
            <a:r>
              <a:rPr lang="en-US" sz="1500">
                <a:solidFill>
                  <a:srgbClr val="1D1D1F"/>
                </a:solidFill>
              </a:rPr>
              <a:t>发现如何转化为新用户引导策略？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研究方法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4000" y="1026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5E6B7A"/>
                </a:solidFill>
              </a:rPr>
              <a:t>48,000 名用户 · 2025 年 1–12 月脱敏行为日志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E6B7A"/>
                </a:solidFill>
              </a:rPr>
              <a:t>03</a:t>
            </a:r>
          </a:p>
        </p:txBody>
      </p:sp>
      <p:sp>
        <p:nvSpPr>
          <p:cNvPr id="6" name="Shape 6"/>
          <p:cNvSpPr/>
          <p:nvPr/>
        </p:nvSpPr>
        <p:spPr>
          <a:xfrm>
            <a:off x="2171880" y="2934000"/>
            <a:ext cx="7848000" cy="21600"/>
          </a:xfrm>
          <a:prstGeom prst="rect">
            <a:avLst/>
          </a:prstGeom>
          <a:solidFill>
            <a:srgbClr val="C9D3E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1937880" y="2718000"/>
            <a:ext cx="468000" cy="468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200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数据获取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200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5E6B7A"/>
                </a:solidFill>
              </a:rPr>
              <a:t>注册后 8 周的事件日志，清洗后 46,812 人</a:t>
            </a:r>
          </a:p>
        </p:txBody>
      </p:sp>
      <p:sp>
        <p:nvSpPr>
          <p:cNvPr id="10" name="Shape 10"/>
          <p:cNvSpPr/>
          <p:nvPr/>
        </p:nvSpPr>
        <p:spPr>
          <a:xfrm>
            <a:off x="4554000" y="2718000"/>
            <a:ext cx="468000" cy="468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8812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变量构建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8812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5E6B7A"/>
                </a:solidFill>
              </a:rPr>
              <a:t>首周协作人数、功能广度与深度、设备类型</a:t>
            </a:r>
          </a:p>
        </p:txBody>
      </p:sp>
      <p:sp>
        <p:nvSpPr>
          <p:cNvPr id="13" name="Shape 13"/>
          <p:cNvSpPr/>
          <p:nvPr/>
        </p:nvSpPr>
        <p:spPr>
          <a:xfrm>
            <a:off x="7170120" y="2718000"/>
            <a:ext cx="468000" cy="468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0424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模型估计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0424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5E6B7A"/>
                </a:solidFill>
              </a:rPr>
              <a:t>逻辑回归 + 分组对比，控制注册渠道</a:t>
            </a:r>
          </a:p>
        </p:txBody>
      </p:sp>
      <p:sp>
        <p:nvSpPr>
          <p:cNvPr id="16" name="Shape 16"/>
          <p:cNvSpPr/>
          <p:nvPr/>
        </p:nvSpPr>
        <p:spPr>
          <a:xfrm>
            <a:off x="9786240" y="2718000"/>
            <a:ext cx="468000" cy="468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2000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稳健性检验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2000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5E6B7A"/>
                </a:solidFill>
              </a:rPr>
              <a:t>更换留存窗口与样本区间复核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主要结果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E6B7A"/>
                </a:solidFill>
              </a:rPr>
              <a:t>04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64000" y="1872000"/>
          <a:ext cx="10464120" cy="20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030"/>
                <a:gridCol w="2616030"/>
                <a:gridCol w="2616030"/>
                <a:gridCol w="2616030"/>
              </a:tblGrid>
              <a:tr h="414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变量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系数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显著性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解读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首周完成一次多人协作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+0.82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&lt; 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次月留存率提高 19 个百分点</a:t>
                      </a:r>
                    </a:p>
                  </a:txBody>
                  <a:tcPr/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功能使用广度（每增 1 项）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+0.11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&lt; 0.05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边际效应递减，5 项后不显著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协作人数 ≥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+0.35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&lt; 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存在阈值：3 人以上增益趋平</a:t>
                      </a:r>
                    </a:p>
                  </a:txBody>
                  <a:tcPr/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仅移动端使用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−0.27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&lt; 0.05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留存显著低于桌面端用户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结论与展望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E6B7A"/>
                </a:solidFill>
              </a:rPr>
              <a:t>05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908000"/>
            <a:ext cx="5040000" cy="2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7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F3A5F"/>
                </a:solidFill>
              </a:rPr>
              <a:t>主要结论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首周的一次真实协作是最强的留存信号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引导应聚焦「邀请一位同事」，而非功能巡礼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移动端首次体验需要单独设计</a:t>
            </a:r>
          </a:p>
        </p:txBody>
      </p:sp>
      <p:sp>
        <p:nvSpPr>
          <p:cNvPr id="8" name="Shape 8"/>
          <p:cNvSpPr/>
          <p:nvPr/>
        </p:nvSpPr>
        <p:spPr>
          <a:xfrm>
            <a:off x="6264000" y="1908000"/>
            <a:ext cx="5040000" cy="216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1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F3A5F"/>
                </a:solidFill>
              </a:rPr>
              <a:t>不足与展望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单一产品数据，外推需谨慎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相关性分析，因果有待实验验证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后续可加入文本与会话内容特征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044000" y="2628000"/>
            <a:ext cx="576000" cy="43200"/>
          </a:xfrm>
          <a:prstGeom prst="rect">
            <a:avLst/>
          </a:prstGeom>
          <a:solidFill>
            <a:srgbClr val="D5DEE9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972000" y="2808000"/>
            <a:ext cx="8640000" cy="93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800" b="1">
                <a:solidFill>
                  <a:srgbClr val="FFFFFF"/>
                </a:solidFill>
              </a:rPr>
              <a:t>请各位老师批评指正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2000" y="38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D5DEE9"/>
                </a:solidFill>
              </a:rPr>
              <a:t>谢谢！</a:t>
            </a:r>
          </a:p>
        </p:txBody>
      </p:sp>
    </p:spTree>
  </p:cSld>
  <p:clrMapOvr>
    <a:masterClrMapping/>
  </p:clrMapOvr>
</p:sld>
</file>