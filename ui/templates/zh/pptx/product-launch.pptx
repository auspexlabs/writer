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c977152f0a93442d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Master"/>
  </p:sldMasterIdLst>
  <p:sldIdLst>
    <p:sldId id="256" r:id="Rb33c3fead3704587"/>
    <p:sldId id="257" r:id="R1fe000fd569041dc"/>
    <p:sldId id="258" r:id="R789ec146717341d0"/>
    <p:sldId id="259" r:id="Rb2a5f6c2693840cb"/>
    <p:sldId id="260" r:id="Rf1ce12dbd97240dd"/>
    <p:sldId id="261" r:id="Rc2ad232e284242a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" /><Relationship Type="http://schemas.openxmlformats.org/officeDocument/2006/relationships/theme" Target="/ppt/slideMasters/theme/theme1.xml" Id="R289bd72c0e2744f7" /><Relationship Type="http://schemas.openxmlformats.org/officeDocument/2006/relationships/slide" Target="/ppt/slides/slide1.xml" Id="Rb33c3fead3704587" /><Relationship Type="http://schemas.openxmlformats.org/officeDocument/2006/relationships/slide" Target="/ppt/slides/slide2.xml" Id="R1fe000fd569041dc" /><Relationship Type="http://schemas.openxmlformats.org/officeDocument/2006/relationships/slide" Target="/ppt/slides/slide3.xml" Id="R789ec146717341d0" /><Relationship Type="http://schemas.openxmlformats.org/officeDocument/2006/relationships/slide" Target="/ppt/slides/slide4.xml" Id="Rb2a5f6c2693840cb" /><Relationship Type="http://schemas.openxmlformats.org/officeDocument/2006/relationships/slide" Target="/ppt/slides/slide5.xml" Id="Rf1ce12dbd97240dd" /><Relationship Type="http://schemas.openxmlformats.org/officeDocument/2006/relationships/slide" Target="/ppt/slides/slide6.xml" Id="Rc2ad232e284242a0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ee10c03a2a4f8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f92f276443454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deff229a194334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IdTheme" /><Relationship Type="http://schemas.openxmlformats.org/officeDocument/2006/relationships/slideLayout" Target="/ppt/slideLayouts/slideLayout1.xml" Id="rIdLayout1" /><Relationship Type="http://schemas.openxmlformats.org/officeDocument/2006/relationships/slideLayout" Target="/ppt/slideLayouts/slideLayout2.xml" Id="rIdLayout2" /><Relationship Type="http://schemas.openxmlformats.org/officeDocument/2006/relationships/slideLayout" Target="/ppt/slideLayouts/slideLayout3.xml" Id="rIdLayout3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Layout1"/>
    <p:sldLayoutId id="2147483650" r:id="rIdLayout2"/>
    <p:sldLayoutId id="2147483651" r:id="rIdLayout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Masters/theme/theme1.xml><?xml version="1.0" encoding="utf-8"?>
<a:theme xmlns:a="http://schemas.openxmlformats.org/drawingml/2006/main" name="Writer">
  <a:themeElements>
    <a:clrScheme name="Writer">
      <a:dk1>
        <a:sysClr val="windowText" lastClr="000000"/>
      </a:dk1>
      <a:lt1>
        <a:sysClr val="window" lastClr="FFFFFF"/>
      </a:lt1>
      <a:dk2>
        <a:srgbClr val="1F2937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Writer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Writ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f92d7ceded442a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2f146c71f6c479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0eaeb915d7f455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9d2a3b52cc249a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8c37d56f93243f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3926f12d8e1440f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7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92000" y="2016000"/>
            <a:ext cx="7200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rgbClr val="E0B25A"/>
                </a:solidFill>
              </a:rPr>
              <a:t>2026 秋季发布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92000" y="2520000"/>
            <a:ext cx="10080000" cy="165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7200" b="1">
                <a:solidFill>
                  <a:srgbClr val="F5F5F7"/>
                </a:solidFill>
              </a:rPr>
              <a:t>一起写 3.0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92000" y="43920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rgbClr val="A1A1AA"/>
                </a:solidFill>
              </a:rPr>
              <a:t>让工具退到工作背后</a:t>
            </a:r>
          </a:p>
        </p:txBody>
      </p:sp>
      <p:sp>
        <p:nvSpPr>
          <p:cNvPr id="5" name="Shape 5"/>
          <p:cNvSpPr/>
          <p:nvPr/>
        </p:nvSpPr>
        <p:spPr>
          <a:xfrm>
            <a:off x="864000" y="5472000"/>
            <a:ext cx="576000" cy="43200"/>
          </a:xfrm>
          <a:prstGeom prst="rect">
            <a:avLst/>
          </a:prstGeom>
          <a:solidFill>
            <a:srgbClr val="E0B25A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7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1584000" y="1944000"/>
            <a:ext cx="576000" cy="43200"/>
          </a:xfrm>
          <a:prstGeom prst="rect">
            <a:avLst/>
          </a:prstGeom>
          <a:solidFill>
            <a:srgbClr val="E0B25A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1512000" y="2160000"/>
            <a:ext cx="9180000" cy="216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200" b="1">
                <a:solidFill>
                  <a:srgbClr val="F5F5F7"/>
                </a:solidFill>
              </a:rPr>
              <a:t>每一次协作，都不该从「发我一下最新版」开始。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512000" y="4536000"/>
            <a:ext cx="9000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A1A1AA"/>
                </a:solidFill>
              </a:rPr>
              <a:t>我们问了 1,200 个团队，这是他们最常说的一句话。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7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864000" y="558000"/>
            <a:ext cx="64800" cy="468000"/>
          </a:xfrm>
          <a:prstGeom prst="rect">
            <a:avLst/>
          </a:prstGeom>
          <a:solidFill>
            <a:srgbClr val="E0B25A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1044000" y="4680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600" b="1">
                <a:solidFill>
                  <a:srgbClr val="F5F5F7"/>
                </a:solidFill>
              </a:rPr>
              <a:t>三个变化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872000" y="6300000"/>
            <a:ext cx="576000" cy="28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A1A1AA"/>
                </a:solidFill>
              </a:rPr>
              <a:t>03</a:t>
            </a:r>
          </a:p>
        </p:txBody>
      </p:sp>
      <p:sp>
        <p:nvSpPr>
          <p:cNvPr id="5" name="Shape 5"/>
          <p:cNvSpPr/>
          <p:nvPr/>
        </p:nvSpPr>
        <p:spPr>
          <a:xfrm>
            <a:off x="864000" y="1872000"/>
            <a:ext cx="3319920" cy="2736000"/>
          </a:xfrm>
          <a:prstGeom prst="roundRect">
            <a:avLst/>
          </a:prstGeom>
          <a:solidFill>
            <a:srgbClr val="24262C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" name="TextBox 6"/>
          <p:cNvSpPr txBox="1"/>
          <p:nvPr/>
        </p:nvSpPr>
        <p:spPr>
          <a:xfrm>
            <a:off x="1152000" y="2232000"/>
            <a:ext cx="2743920" cy="864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E0B25A"/>
                </a:solidFill>
              </a:rPr>
              <a:t>实时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52000" y="3276000"/>
            <a:ext cx="2743920" cy="39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rgbClr val="F5F5F7"/>
                </a:solidFill>
              </a:rPr>
              <a:t>多人同时编辑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52000" y="3708000"/>
            <a:ext cx="2743920" cy="82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A1A1AA"/>
                </a:solidFill>
              </a:rPr>
              <a:t>光标、选区、改动即时可见，冲突自动合并</a:t>
            </a:r>
          </a:p>
        </p:txBody>
      </p:sp>
      <p:sp>
        <p:nvSpPr>
          <p:cNvPr id="9" name="Shape 9"/>
          <p:cNvSpPr/>
          <p:nvPr/>
        </p:nvSpPr>
        <p:spPr>
          <a:xfrm>
            <a:off x="4435920" y="1872000"/>
            <a:ext cx="3319920" cy="2736000"/>
          </a:xfrm>
          <a:prstGeom prst="roundRect">
            <a:avLst/>
          </a:prstGeom>
          <a:solidFill>
            <a:srgbClr val="24262C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4723920" y="2232000"/>
            <a:ext cx="2743920" cy="864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E0B25A"/>
                </a:solidFill>
              </a:rPr>
              <a:t>5 分钟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723920" y="3276000"/>
            <a:ext cx="2743920" cy="39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rgbClr val="F5F5F7"/>
                </a:solidFill>
              </a:rPr>
              <a:t>会议变纪要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723920" y="3708000"/>
            <a:ext cx="2743920" cy="82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A1A1AA"/>
                </a:solidFill>
              </a:rPr>
              <a:t>录音转写、要点提炼、待办分发，一次完成</a:t>
            </a:r>
          </a:p>
        </p:txBody>
      </p:sp>
      <p:sp>
        <p:nvSpPr>
          <p:cNvPr id="13" name="Shape 13"/>
          <p:cNvSpPr/>
          <p:nvPr/>
        </p:nvSpPr>
        <p:spPr>
          <a:xfrm>
            <a:off x="8008200" y="1872000"/>
            <a:ext cx="3319920" cy="2736000"/>
          </a:xfrm>
          <a:prstGeom prst="roundRect">
            <a:avLst/>
          </a:prstGeom>
          <a:solidFill>
            <a:srgbClr val="24262C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4" name="TextBox 14"/>
          <p:cNvSpPr txBox="1"/>
          <p:nvPr/>
        </p:nvSpPr>
        <p:spPr>
          <a:xfrm>
            <a:off x="8296200" y="2232000"/>
            <a:ext cx="2743920" cy="864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E0B25A"/>
                </a:solidFill>
              </a:rPr>
              <a:t>离线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296200" y="3276000"/>
            <a:ext cx="2743920" cy="39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rgbClr val="F5F5F7"/>
                </a:solidFill>
              </a:rPr>
              <a:t>没有网络也能写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296200" y="3708000"/>
            <a:ext cx="2743920" cy="82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A1A1AA"/>
                </a:solidFill>
              </a:rPr>
              <a:t>本地保存，联网后自动同步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7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864000" y="558000"/>
            <a:ext cx="64800" cy="468000"/>
          </a:xfrm>
          <a:prstGeom prst="rect">
            <a:avLst/>
          </a:prstGeom>
          <a:solidFill>
            <a:srgbClr val="E0B25A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1044000" y="4680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600" b="1">
                <a:solidFill>
                  <a:srgbClr val="F5F5F7"/>
                </a:solidFill>
              </a:rPr>
              <a:t>与上一代相比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872000" y="6300000"/>
            <a:ext cx="576000" cy="28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A1A1AA"/>
                </a:solidFill>
              </a:rPr>
              <a:t>04</a:t>
            </a:r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864000" y="1944000"/>
          <a:ext cx="10464120" cy="23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88040"/>
                <a:gridCol w="3488040"/>
                <a:gridCol w="3488040"/>
              </a:tblGrid>
              <a:tr h="468000">
                <a:tc>
                  <a:txBody>
                    <a:bodyPr/>
                    <a:lstStyle/>
                    <a:p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项目</a:t>
                      </a:r>
                    </a:p>
                  </a:txBody>
                  <a:tcPr>
                    <a:solidFill>
                      <a:srgbClr val="2426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2.0</a:t>
                      </a:r>
                    </a:p>
                  </a:txBody>
                  <a:tcPr>
                    <a:solidFill>
                      <a:srgbClr val="2426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3.0</a:t>
                      </a:r>
                    </a:p>
                  </a:txBody>
                  <a:tcPr>
                    <a:solidFill>
                      <a:srgbClr val="24262C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r>
                        <a:rPr lang="en-US" sz="1500">
                          <a:solidFill>
                            <a:srgbClr val="F5F5F7"/>
                          </a:solidFill>
                        </a:rPr>
                        <a:t>打开 100 页文档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solidFill>
                            <a:srgbClr val="F5F5F7"/>
                          </a:solidFill>
                        </a:rPr>
                        <a:t>3.2 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solidFill>
                            <a:srgbClr val="F5F5F7"/>
                          </a:solidFill>
                        </a:rPr>
                        <a:t>0.8 秒</a:t>
                      </a:r>
                    </a:p>
                  </a:txBody>
                  <a:tcPr/>
                </a:tc>
              </a:tr>
              <a:tr h="468000">
                <a:tc>
                  <a:txBody>
                    <a:bodyPr/>
                    <a:lstStyle/>
                    <a:p>
                      <a:r>
                        <a:rPr lang="en-US" sz="1500">
                          <a:solidFill>
                            <a:srgbClr val="F5F5F7"/>
                          </a:solidFill>
                        </a:rPr>
                        <a:t>同时编辑人数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solidFill>
                            <a:srgbClr val="F5F5F7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solidFill>
                            <a:srgbClr val="F5F5F7"/>
                          </a:solidFill>
                        </a:rPr>
                        <a:t>100</a:t>
                      </a:r>
                    </a:p>
                  </a:txBody>
                  <a:tcPr/>
                </a:tc>
              </a:tr>
              <a:tr h="468000">
                <a:tc>
                  <a:txBody>
                    <a:bodyPr/>
                    <a:lstStyle/>
                    <a:p>
                      <a:r>
                        <a:rPr lang="en-US" sz="1500">
                          <a:solidFill>
                            <a:srgbClr val="F5F5F7"/>
                          </a:solidFill>
                        </a:rPr>
                        <a:t>离线编辑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solidFill>
                            <a:srgbClr val="F5F5F7"/>
                          </a:solidFill>
                        </a:rPr>
                        <a:t>不支持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solidFill>
                            <a:srgbClr val="F5F5F7"/>
                          </a:solidFill>
                        </a:rPr>
                        <a:t>支持</a:t>
                      </a:r>
                    </a:p>
                  </a:txBody>
                  <a:tcPr/>
                </a:tc>
              </a:tr>
              <a:tr h="468000">
                <a:tc>
                  <a:txBody>
                    <a:bodyPr/>
                    <a:lstStyle/>
                    <a:p>
                      <a:r>
                        <a:rPr lang="en-US" sz="1500">
                          <a:solidFill>
                            <a:srgbClr val="F5F5F7"/>
                          </a:solidFill>
                        </a:rPr>
                        <a:t>AI 起草与纪要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solidFill>
                            <a:srgbClr val="F5F5F7"/>
                          </a:solidFill>
                        </a:rPr>
                        <a:t>部分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solidFill>
                            <a:srgbClr val="F5F5F7"/>
                          </a:solidFill>
                        </a:rPr>
                        <a:t>全部格式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7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864000" y="558000"/>
            <a:ext cx="64800" cy="468000"/>
          </a:xfrm>
          <a:prstGeom prst="rect">
            <a:avLst/>
          </a:prstGeom>
          <a:solidFill>
            <a:srgbClr val="E0B25A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1044000" y="4680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600" b="1">
                <a:solidFill>
                  <a:srgbClr val="F5F5F7"/>
                </a:solidFill>
              </a:rPr>
              <a:t>价格与上市时间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872000" y="6300000"/>
            <a:ext cx="576000" cy="28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A1A1AA"/>
                </a:solidFill>
              </a:rPr>
              <a:t>05</a:t>
            </a:r>
          </a:p>
        </p:txBody>
      </p:sp>
      <p:sp>
        <p:nvSpPr>
          <p:cNvPr id="5" name="Shape 5"/>
          <p:cNvSpPr/>
          <p:nvPr/>
        </p:nvSpPr>
        <p:spPr>
          <a:xfrm>
            <a:off x="864000" y="1872000"/>
            <a:ext cx="3319920" cy="2736000"/>
          </a:xfrm>
          <a:prstGeom prst="roundRect">
            <a:avLst/>
          </a:prstGeom>
          <a:solidFill>
            <a:srgbClr val="24262C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" name="TextBox 6"/>
          <p:cNvSpPr txBox="1"/>
          <p:nvPr/>
        </p:nvSpPr>
        <p:spPr>
          <a:xfrm>
            <a:off x="1152000" y="2232000"/>
            <a:ext cx="2743920" cy="864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E0B25A"/>
                </a:solidFill>
              </a:rPr>
              <a:t>¥0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52000" y="3276000"/>
            <a:ext cx="2743920" cy="39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rgbClr val="F5F5F7"/>
                </a:solidFill>
              </a:rPr>
              <a:t>个人版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52000" y="3708000"/>
            <a:ext cx="2743920" cy="82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A1A1AA"/>
                </a:solidFill>
              </a:rPr>
              <a:t>全部功能，不限文档数</a:t>
            </a:r>
          </a:p>
        </p:txBody>
      </p:sp>
      <p:sp>
        <p:nvSpPr>
          <p:cNvPr id="9" name="Shape 9"/>
          <p:cNvSpPr/>
          <p:nvPr/>
        </p:nvSpPr>
        <p:spPr>
          <a:xfrm>
            <a:off x="4435920" y="1872000"/>
            <a:ext cx="3319920" cy="2736000"/>
          </a:xfrm>
          <a:prstGeom prst="roundRect">
            <a:avLst/>
          </a:prstGeom>
          <a:solidFill>
            <a:srgbClr val="24262C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4723920" y="2232000"/>
            <a:ext cx="2743920" cy="864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E0B25A"/>
                </a:solidFill>
              </a:rPr>
              <a:t>¥29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723920" y="3276000"/>
            <a:ext cx="2743920" cy="39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rgbClr val="F5F5F7"/>
                </a:solidFill>
              </a:rPr>
              <a:t>团队版 · 每人每月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723920" y="3708000"/>
            <a:ext cx="2743920" cy="82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A1A1AA"/>
                </a:solidFill>
              </a:rPr>
              <a:t>共享空间、权限与审计</a:t>
            </a:r>
          </a:p>
        </p:txBody>
      </p:sp>
      <p:sp>
        <p:nvSpPr>
          <p:cNvPr id="13" name="Shape 13"/>
          <p:cNvSpPr/>
          <p:nvPr/>
        </p:nvSpPr>
        <p:spPr>
          <a:xfrm>
            <a:off x="8008200" y="1872000"/>
            <a:ext cx="3319920" cy="2736000"/>
          </a:xfrm>
          <a:prstGeom prst="roundRect">
            <a:avLst/>
          </a:prstGeom>
          <a:solidFill>
            <a:srgbClr val="24262C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4" name="TextBox 14"/>
          <p:cNvSpPr txBox="1"/>
          <p:nvPr/>
        </p:nvSpPr>
        <p:spPr>
          <a:xfrm>
            <a:off x="8296200" y="2232000"/>
            <a:ext cx="2743920" cy="864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E0B25A"/>
                </a:solidFill>
              </a:rPr>
              <a:t>10 月 15 日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296200" y="3276000"/>
            <a:ext cx="2743920" cy="39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rgbClr val="F5F5F7"/>
                </a:solidFill>
              </a:rPr>
              <a:t>全平台上线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296200" y="3708000"/>
            <a:ext cx="2743920" cy="82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A1A1AA"/>
                </a:solidFill>
              </a:rPr>
              <a:t>Mac、Windows、网页同步发布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7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1044000" y="2628000"/>
            <a:ext cx="576000" cy="43200"/>
          </a:xfrm>
          <a:prstGeom prst="rect">
            <a:avLst/>
          </a:prstGeom>
          <a:solidFill>
            <a:srgbClr val="F0DCA8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972000" y="2808000"/>
            <a:ext cx="8640000" cy="93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4800" b="1">
                <a:solidFill>
                  <a:srgbClr val="FFFFFF"/>
                </a:solidFill>
              </a:rPr>
              <a:t>今天就开始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72000" y="38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rgbClr val="F0DCA8"/>
                </a:solidFill>
              </a:rPr>
              <a:t>example.com/together</a:t>
            </a:r>
          </a:p>
        </p:txBody>
      </p:sp>
    </p:spTree>
  </p:cSld>
  <p:clrMapOvr>
    <a:masterClrMapping/>
  </p:clrMapOvr>
</p:sld>
</file>