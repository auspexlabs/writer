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b8c828a9f294109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c766b9c0fb5847f2"/>
    <p:sldId id="257" r:id="R8dc89e982c404413"/>
    <p:sldId id="258" r:id="R6bf03273cf214b9d"/>
    <p:sldId id="259" r:id="R24d2a78cc5cf4883"/>
    <p:sldId id="260" r:id="R5942576e30454940"/>
    <p:sldId id="261" r:id="R4c445c90dbea44a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1823aecfb97547bc" /><Relationship Type="http://schemas.openxmlformats.org/officeDocument/2006/relationships/slide" Target="/ppt/slides/slide1.xml" Id="Rc766b9c0fb5847f2" /><Relationship Type="http://schemas.openxmlformats.org/officeDocument/2006/relationships/slide" Target="/ppt/slides/slide2.xml" Id="R8dc89e982c404413" /><Relationship Type="http://schemas.openxmlformats.org/officeDocument/2006/relationships/slide" Target="/ppt/slides/slide3.xml" Id="R6bf03273cf214b9d" /><Relationship Type="http://schemas.openxmlformats.org/officeDocument/2006/relationships/slide" Target="/ppt/slides/slide4.xml" Id="R24d2a78cc5cf4883" /><Relationship Type="http://schemas.openxmlformats.org/officeDocument/2006/relationships/slide" Target="/ppt/slides/slide5.xml" Id="R5942576e30454940" /><Relationship Type="http://schemas.openxmlformats.org/officeDocument/2006/relationships/slide" Target="/ppt/slides/slide6.xml" Id="R4c445c90dbea44a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7bf2798d947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b75bf564d49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b5410d840409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c3a17e18cb42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249e8fbfb5947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9f35e92e6847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37e86747ce4f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d191b3a88644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20a184a1d64c9f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2160000"/>
            <a:ext cx="576000" cy="432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92000" y="2340000"/>
            <a:ext cx="936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A6E5A"/>
                </a:solidFill>
              </a:rPr>
              <a:t>内部提案 · 产品部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2000" y="2808000"/>
            <a:ext cx="10080000" cy="14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建立客户反馈闭环机制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2000" y="4752000"/>
            <a:ext cx="1008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A6E5A"/>
                </a:solidFill>
              </a:rPr>
              <a:t>提案人：李明　　2026 年 9 月 25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现状与问题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6E5A"/>
                </a:solidFill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000" y="1944000"/>
            <a:ext cx="360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400" b="1">
                <a:solidFill>
                  <a:srgbClr val="8A6A2F"/>
                </a:solidFill>
              </a:rPr>
              <a:t>6 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4000" y="3240000"/>
            <a:ext cx="3600000" cy="7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7A6E5A"/>
                </a:solidFill>
              </a:rPr>
              <a:t>一条高频需求从提出到有人响应的平均时间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24000" y="1944000"/>
            <a:ext cx="6480000" cy="32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反馈散落在客服工单、销售群和邮件里，没有统一入口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没有固定的评审节奏，谁声音大谁优先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客户不知道问题有没有人在管，重复提、反复问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提案方案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7A6E5A"/>
                </a:solidFill>
              </a:rPr>
              <a:t>三件事，一个闭环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6E5A"/>
                </a:solidFill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F7F2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8A6A2F"/>
                </a:solidFill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统一入口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A6E5A"/>
                </a:solidFill>
              </a:rPr>
              <a:t>所有渠道的反馈进入同一个看板，自动去重与归类</a:t>
            </a:r>
          </a:p>
        </p:txBody>
      </p:sp>
      <p:sp>
        <p:nvSpPr>
          <p:cNvPr id="10" name="Shape 10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F7F2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8A6A2F"/>
                </a:solidFill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每周评审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A6E5A"/>
                </a:solidFill>
              </a:rPr>
              <a:t>产品、客服、销售固定 45 分钟，给每条高频需求一个明确状态</a:t>
            </a:r>
          </a:p>
        </p:txBody>
      </p:sp>
      <p:sp>
        <p:nvSpPr>
          <p:cNvPr id="14" name="Shape 14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F7F2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8A6A2F"/>
                </a:solidFill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公开路线图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A6E5A"/>
                </a:solidFill>
              </a:rPr>
              <a:t>客户能看到「已计划 / 进行中 / 已上线」，上线自动通知提出者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实施步骤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6E5A"/>
                </a:solidFill>
              </a:rPr>
              <a:t>04</a:t>
            </a:r>
          </a:p>
        </p:txBody>
      </p:sp>
      <p:sp>
        <p:nvSpPr>
          <p:cNvPr id="5" name="Shape 5"/>
          <p:cNvSpPr/>
          <p:nvPr/>
        </p:nvSpPr>
        <p:spPr>
          <a:xfrm>
            <a:off x="2171880" y="2934000"/>
            <a:ext cx="7848000" cy="21600"/>
          </a:xfrm>
          <a:prstGeom prst="rect">
            <a:avLst/>
          </a:prstGeom>
          <a:solidFill>
            <a:srgbClr val="E3D7C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1937880" y="2718000"/>
            <a:ext cx="468000" cy="468000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10 月上旬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6E5A"/>
                </a:solidFill>
              </a:rPr>
              <a:t>接入三个渠道，搭建反馈看板</a:t>
            </a:r>
          </a:p>
        </p:txBody>
      </p:sp>
      <p:sp>
        <p:nvSpPr>
          <p:cNvPr id="9" name="Shape 9"/>
          <p:cNvSpPr/>
          <p:nvPr/>
        </p:nvSpPr>
        <p:spPr>
          <a:xfrm>
            <a:off x="4554000" y="2718000"/>
            <a:ext cx="468000" cy="468000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8812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10 月中旬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812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6E5A"/>
                </a:solidFill>
              </a:rPr>
              <a:t>首次周评审，确定状态规则</a:t>
            </a:r>
          </a:p>
        </p:txBody>
      </p:sp>
      <p:sp>
        <p:nvSpPr>
          <p:cNvPr id="12" name="Shape 12"/>
          <p:cNvSpPr/>
          <p:nvPr/>
        </p:nvSpPr>
        <p:spPr>
          <a:xfrm>
            <a:off x="7170120" y="2718000"/>
            <a:ext cx="468000" cy="468000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0424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11 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0424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6E5A"/>
                </a:solidFill>
              </a:rPr>
              <a:t>公开路线图上线，自动通知打通</a:t>
            </a:r>
          </a:p>
        </p:txBody>
      </p:sp>
      <p:sp>
        <p:nvSpPr>
          <p:cNvPr id="15" name="Shape 15"/>
          <p:cNvSpPr/>
          <p:nvPr/>
        </p:nvSpPr>
        <p:spPr>
          <a:xfrm>
            <a:off x="9786240" y="2718000"/>
            <a:ext cx="468000" cy="468000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20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12 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0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6E5A"/>
                </a:solidFill>
              </a:rPr>
              <a:t>复盘：响应周期与客户满意度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投入与收益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6E5A"/>
                </a:solidFill>
              </a:rPr>
              <a:t>05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8A6A2F"/>
                </a:solidFill>
              </a:rPr>
              <a:t>投入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工具：反馈看板与通知，约 2 万元 / 年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人力：产品 0.5 人，客服 0.3 人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每周 45 分钟评审会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8A6A2F"/>
                </a:solidFill>
              </a:rPr>
              <a:t>预期收益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响应周期从 6 周缩短到 2 周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重复反馈减少 40%，客服工单下降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续费沟通中有据可依，目标续费率 +5 个百分点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需要的决策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6E5A"/>
                </a:solidFill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000" y="1908000"/>
            <a:ext cx="10464120" cy="36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同意成立由产品、客服、销售各一人组成的评审小组，每周固定时间。</a:t>
            </a:r>
          </a:p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批准 2 万元 / 年的工具预算。</a:t>
            </a:r>
          </a:p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授权产品部对外发布路线图的「已计划」状态。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4000" y="4896000"/>
            <a:ext cx="1046412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A6E5A"/>
                </a:solidFill>
              </a:rPr>
              <a:t>如获批准，10 月 8 日启动，12 月底汇报第一阶段结果。</a:t>
            </a:r>
          </a:p>
        </p:txBody>
      </p:sp>
    </p:spTree>
  </p:cSld>
  <p:clrMapOvr>
    <a:masterClrMapping/>
  </p:clrMapOvr>
</p:sld>
</file>