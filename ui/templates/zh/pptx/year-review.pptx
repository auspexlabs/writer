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850610b23484cdb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72b10ecb5507471a"/>
    <p:sldId id="257" r:id="R113ffd79539a45db"/>
    <p:sldId id="258" r:id="R6c59509ce0f54e04"/>
    <p:sldId id="259" r:id="Rb04638b5db074e8f"/>
    <p:sldId id="260" r:id="R9c044768c42c4598"/>
    <p:sldId id="261" r:id="Rf0dd762e769a4aa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e2b811a2b2e146d7" /><Relationship Type="http://schemas.openxmlformats.org/officeDocument/2006/relationships/slide" Target="/ppt/slides/slide1.xml" Id="R72b10ecb5507471a" /><Relationship Type="http://schemas.openxmlformats.org/officeDocument/2006/relationships/slide" Target="/ppt/slides/slide2.xml" Id="R113ffd79539a45db" /><Relationship Type="http://schemas.openxmlformats.org/officeDocument/2006/relationships/slide" Target="/ppt/slides/slide3.xml" Id="R6c59509ce0f54e04" /><Relationship Type="http://schemas.openxmlformats.org/officeDocument/2006/relationships/slide" Target="/ppt/slides/slide4.xml" Id="Rb04638b5db074e8f" /><Relationship Type="http://schemas.openxmlformats.org/officeDocument/2006/relationships/slide" Target="/ppt/slides/slide5.xml" Id="R9c044768c42c4598" /><Relationship Type="http://schemas.openxmlformats.org/officeDocument/2006/relationships/slide" Target="/ppt/slides/slide6.xml" Id="Rf0dd762e769a4aa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027add0a848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dc5f162d34d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27b351008f4a34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c33286defa540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7f3497e41db4f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b387c68088044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b2a0ce1a75648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dab6ab292ca43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73324c37aa4d2c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72000" y="936000"/>
            <a:ext cx="6480000" cy="28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0" b="1">
                <a:solidFill>
                  <a:srgbClr val="3A3A3C"/>
                </a:solidFill>
              </a:rPr>
              <a:t>2026</a:t>
            </a:r>
          </a:p>
        </p:txBody>
      </p:sp>
      <p:sp>
        <p:nvSpPr>
          <p:cNvPr id="3" name="Shape 3"/>
          <p:cNvSpPr/>
          <p:nvPr/>
        </p:nvSpPr>
        <p:spPr>
          <a:xfrm>
            <a:off x="1044000" y="3456000"/>
            <a:ext cx="576000" cy="4320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72000" y="3636000"/>
            <a:ext cx="720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B08D57"/>
                </a:solidFill>
              </a:rPr>
              <a:t>产品部 · 年度工作总结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2000" y="4104000"/>
            <a:ext cx="8640000" cy="115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rgbClr val="FFFFFF"/>
                </a:solidFill>
              </a:rPr>
              <a:t>把一年做成一页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2000" y="5472000"/>
            <a:ext cx="720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A1A1AA"/>
                </a:solidFill>
              </a:rPr>
              <a:t>李明　2026 年 12 月 20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年度关键数字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6E6E73"/>
                </a:solidFill>
              </a:rPr>
              <a:t>02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872000"/>
            <a:ext cx="3319920" cy="2736000"/>
          </a:xfrm>
          <a:prstGeom prst="roundRect">
            <a:avLst/>
          </a:prstGeom>
          <a:solidFill>
            <a:srgbClr val="F2F2F4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1520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D1D1F"/>
                </a:solidFill>
              </a:rPr>
              <a:t>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20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产品大版本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0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6E6E73"/>
                </a:solidFill>
              </a:rPr>
              <a:t>按季度节奏交付，零延期</a:t>
            </a:r>
          </a:p>
        </p:txBody>
      </p:sp>
      <p:sp>
        <p:nvSpPr>
          <p:cNvPr id="9" name="Shape 9"/>
          <p:cNvSpPr/>
          <p:nvPr/>
        </p:nvSpPr>
        <p:spPr>
          <a:xfrm>
            <a:off x="4435920" y="1872000"/>
            <a:ext cx="3319920" cy="2736000"/>
          </a:xfrm>
          <a:prstGeom prst="roundRect">
            <a:avLst/>
          </a:prstGeom>
          <a:solidFill>
            <a:srgbClr val="F2F2F4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72392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D1D1F"/>
                </a:solidFill>
              </a:rPr>
              <a:t>12 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2392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月活跃用户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2392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6E6E73"/>
                </a:solidFill>
              </a:rPr>
              <a:t>同比增长 65%</a:t>
            </a:r>
          </a:p>
        </p:txBody>
      </p:sp>
      <p:sp>
        <p:nvSpPr>
          <p:cNvPr id="13" name="Shape 13"/>
          <p:cNvSpPr/>
          <p:nvPr/>
        </p:nvSpPr>
        <p:spPr>
          <a:xfrm>
            <a:off x="8008200" y="1872000"/>
            <a:ext cx="3319920" cy="2736000"/>
          </a:xfrm>
          <a:prstGeom prst="roundRect">
            <a:avLst/>
          </a:prstGeom>
          <a:solidFill>
            <a:srgbClr val="F2F2F4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2962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D1D1F"/>
                </a:solidFill>
              </a:rPr>
              <a:t>98.5%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962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服务可用性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62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6E6E73"/>
                </a:solidFill>
              </a:rPr>
              <a:t>3 次故障，均在 30 分钟内恢复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重点工作回顾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4000" y="102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6E6E73"/>
                </a:solidFill>
              </a:rPr>
              <a:t>四个季度，四件大事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6E6E73"/>
                </a:solidFill>
              </a:rPr>
              <a:t>03</a:t>
            </a:r>
          </a:p>
        </p:txBody>
      </p:sp>
      <p:sp>
        <p:nvSpPr>
          <p:cNvPr id="6" name="Shape 6"/>
          <p:cNvSpPr/>
          <p:nvPr/>
        </p:nvSpPr>
        <p:spPr>
          <a:xfrm>
            <a:off x="2171880" y="2934000"/>
            <a:ext cx="7848000" cy="216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1937880" y="2718000"/>
            <a:ext cx="468000" cy="4680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Q1 协作模块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2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6E6E73"/>
                </a:solidFill>
              </a:rPr>
              <a:t>实时协同上线，首月 2 万团队使用</a:t>
            </a:r>
          </a:p>
        </p:txBody>
      </p:sp>
      <p:sp>
        <p:nvSpPr>
          <p:cNvPr id="10" name="Shape 10"/>
          <p:cNvSpPr/>
          <p:nvPr/>
        </p:nvSpPr>
        <p:spPr>
          <a:xfrm>
            <a:off x="4554000" y="2718000"/>
            <a:ext cx="468000" cy="4680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8812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Q2 会员体系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8812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6E6E73"/>
                </a:solidFill>
              </a:rPr>
              <a:t>积分与等级重构，续费率 +9 点</a:t>
            </a:r>
          </a:p>
        </p:txBody>
      </p:sp>
      <p:sp>
        <p:nvSpPr>
          <p:cNvPr id="13" name="Shape 13"/>
          <p:cNvSpPr/>
          <p:nvPr/>
        </p:nvSpPr>
        <p:spPr>
          <a:xfrm>
            <a:off x="7170120" y="2718000"/>
            <a:ext cx="468000" cy="4680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0424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Q3 智能纪要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0424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6E6E73"/>
                </a:solidFill>
              </a:rPr>
              <a:t>会议转写与要点提炼，覆盖 80% 例会</a:t>
            </a:r>
          </a:p>
        </p:txBody>
      </p:sp>
      <p:sp>
        <p:nvSpPr>
          <p:cNvPr id="16" name="Shape 16"/>
          <p:cNvSpPr/>
          <p:nvPr/>
        </p:nvSpPr>
        <p:spPr>
          <a:xfrm>
            <a:off x="9786240" y="2718000"/>
            <a:ext cx="468000" cy="4680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20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Q4 稳定性专项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20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6E6E73"/>
                </a:solidFill>
              </a:rPr>
              <a:t>打开速度快 40%，故障时长减半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收获与不足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6E6E73"/>
                </a:solidFill>
              </a:rPr>
              <a:t>04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做得好的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版本节奏稳定，跨部门配合顺畅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用户反馈闭环建立，响应周期缩短到 2 周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新人培养见效，3 人独立带项目</a:t>
            </a:r>
          </a:p>
        </p:txBody>
      </p:sp>
      <p:sp>
        <p:nvSpPr>
          <p:cNvPr id="8" name="Shape 8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需要改进的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需求评审偏晚，二季度返工较多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数据埋点不全，部分决策靠经验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文档沉淀不足，知识集中在少数人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2027 年计划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6E6E73"/>
                </a:solidFill>
              </a:rPr>
              <a:t>05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64000" y="1872000"/>
          <a:ext cx="10464120" cy="20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030"/>
                <a:gridCol w="2616030"/>
                <a:gridCol w="2616030"/>
                <a:gridCol w="2616030"/>
              </a:tblGrid>
              <a:tr h="414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目标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关键举措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时间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负责人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月活达到 20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移动端重构、邀请机制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全年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李明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付费转化率 6%</a:t>
                      </a:r>
                    </a:p>
                  </a:txBody>
                  <a:tcPr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团队版功能分层与试用</a:t>
                      </a:r>
                    </a:p>
                  </a:txBody>
                  <a:tcPr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Q1–Q2</a:t>
                      </a:r>
                    </a:p>
                  </a:txBody>
                  <a:tcPr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王芳</a:t>
                      </a:r>
                    </a:p>
                  </a:txBody>
                  <a:tcPr>
                    <a:solidFill>
                      <a:srgbClr val="F2F2F4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可用性 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多活部署、变更审批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Q1–Q3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刘洋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知识库覆盖全部模块</a:t>
                      </a:r>
                    </a:p>
                  </a:txBody>
                  <a:tcPr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每个版本附带文档更新</a:t>
                      </a:r>
                    </a:p>
                  </a:txBody>
                  <a:tcPr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持续</a:t>
                      </a:r>
                    </a:p>
                  </a:txBody>
                  <a:tcPr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陈静</a:t>
                      </a:r>
                    </a:p>
                  </a:txBody>
                  <a:tcPr>
                    <a:solidFill>
                      <a:srgbClr val="F2F2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044000" y="2628000"/>
            <a:ext cx="576000" cy="4320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972000" y="2808000"/>
            <a:ext cx="8640000" cy="93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</a:rPr>
              <a:t>感谢一路同行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2000" y="38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B08D57"/>
                </a:solidFill>
              </a:rPr>
              <a:t>2027，继续前进</a:t>
            </a:r>
          </a:p>
        </p:txBody>
      </p:sp>
    </p:spTree>
  </p:cSld>
  <p:clrMapOvr>
    <a:masterClrMapping/>
  </p:clrMapOvr>
</p:sld>
</file>